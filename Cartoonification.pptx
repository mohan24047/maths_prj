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5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31B2C9D-FEB6-7CD9-AB75-1C4DE80BFE04}"/>
              </a:ext>
            </a:extLst>
          </p:cNvPr>
          <p:cNvGrpSpPr/>
          <p:nvPr/>
        </p:nvGrpSpPr>
        <p:grpSpPr>
          <a:xfrm>
            <a:off x="0" y="0"/>
            <a:ext cx="9144000" cy="1005840"/>
            <a:chOff x="0" y="0"/>
            <a:chExt cx="9144000" cy="100584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1005840"/>
            </a:xfrm>
            <a:prstGeom prst="rect">
              <a:avLst/>
            </a:prstGeom>
            <a:solidFill>
              <a:srgbClr val="AE1D49"/>
            </a:solidFill>
            <a:ln w="12700">
              <a:solidFill>
                <a:srgbClr val="AE1D49"/>
              </a:solidFill>
              <a:prstDash val="solid"/>
            </a:ln>
          </p:spPr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592" y="73152"/>
              <a:ext cx="822960" cy="82296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143000" y="18288"/>
              <a:ext cx="7772400" cy="9692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</p:grpSp>
      <p:sp>
        <p:nvSpPr>
          <p:cNvPr id="5" name="Text 2"/>
          <p:cNvSpPr/>
          <p:nvPr/>
        </p:nvSpPr>
        <p:spPr>
          <a:xfrm>
            <a:off x="1371600" y="17373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640580"/>
            <a:ext cx="2011680" cy="41148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CFDF40ED-8AAC-0BED-378C-3F5E4237FA45}"/>
              </a:ext>
            </a:extLst>
          </p:cNvPr>
          <p:cNvSpPr/>
          <p:nvPr/>
        </p:nvSpPr>
        <p:spPr>
          <a:xfrm>
            <a:off x="1116874" y="1828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Image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Cartoonification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E739BA-62AC-4AFC-C0BB-13A1023F66F1}"/>
              </a:ext>
            </a:extLst>
          </p:cNvPr>
          <p:cNvSpPr/>
          <p:nvPr/>
        </p:nvSpPr>
        <p:spPr>
          <a:xfrm>
            <a:off x="274320" y="1630003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 &amp; Toeplitz Matrix-Based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in Robot Vision</a:t>
            </a:r>
            <a:endParaRPr lang="en-US" sz="18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37320CE-3061-470B-1D21-92279B5F6399}"/>
              </a:ext>
            </a:extLst>
          </p:cNvPr>
          <p:cNvSpPr/>
          <p:nvPr/>
        </p:nvSpPr>
        <p:spPr>
          <a:xfrm>
            <a:off x="274320" y="2988995"/>
            <a:ext cx="5486400" cy="118872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A782C54-E037-60A7-FD25-15B2E2C7CF52}"/>
              </a:ext>
            </a:extLst>
          </p:cNvPr>
          <p:cNvSpPr/>
          <p:nvPr/>
        </p:nvSpPr>
        <p:spPr>
          <a:xfrm>
            <a:off x="411480" y="31089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Mohan Surendra · Chandana Koduru · Tejaswi
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Advisor: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B. Krithika (Dept. of Mathematics)
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Vidyapeetham, Chennai</a:t>
            </a:r>
            <a:endParaRPr lang="en-US" sz="13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6437434-04E3-0A4E-4D7F-8340814CEC13}"/>
              </a:ext>
            </a:extLst>
          </p:cNvPr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noFill/>
          <a:ln/>
        </p:spPr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A8944C-3C88-523A-9844-DB77F7574F9D}"/>
              </a:ext>
            </a:extLst>
          </p:cNvPr>
          <p:cNvGrpSpPr/>
          <p:nvPr/>
        </p:nvGrpSpPr>
        <p:grpSpPr>
          <a:xfrm>
            <a:off x="6511834" y="1076706"/>
            <a:ext cx="2449286" cy="3547872"/>
            <a:chOff x="6172200" y="502920"/>
            <a:chExt cx="2743200" cy="4206240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58E29197-C035-67AC-C434-FE533DD02902}"/>
                </a:ext>
              </a:extLst>
            </p:cNvPr>
            <p:cNvSpPr/>
            <p:nvPr/>
          </p:nvSpPr>
          <p:spPr>
            <a:xfrm>
              <a:off x="6172200" y="502920"/>
              <a:ext cx="2743200" cy="914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56A82189-5A36-1705-D46A-0557486B06B7}"/>
                </a:ext>
              </a:extLst>
            </p:cNvPr>
            <p:cNvSpPr/>
            <p:nvPr/>
          </p:nvSpPr>
          <p:spPr>
            <a:xfrm>
              <a:off x="6172200" y="594360"/>
              <a:ext cx="2743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YOLOv8</a:t>
              </a:r>
              <a:endParaRPr lang="en-US" sz="220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B5FA255C-C47C-E4F6-54FE-F97B65BF6603}"/>
                </a:ext>
              </a:extLst>
            </p:cNvPr>
            <p:cNvSpPr/>
            <p:nvPr/>
          </p:nvSpPr>
          <p:spPr>
            <a:xfrm>
              <a:off x="6172200" y="9601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Object Detection</a:t>
              </a:r>
              <a:endParaRPr lang="en-US" sz="1200" dirty="0"/>
            </a:p>
          </p:txBody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9EF1AC2B-07F5-D55B-1CEB-71289C94E298}"/>
                </a:ext>
              </a:extLst>
            </p:cNvPr>
            <p:cNvSpPr/>
            <p:nvPr/>
          </p:nvSpPr>
          <p:spPr>
            <a:xfrm>
              <a:off x="6172200" y="1600200"/>
              <a:ext cx="2743200" cy="914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126DF1FB-B866-1972-A6AA-5342014501BB}"/>
                </a:ext>
              </a:extLst>
            </p:cNvPr>
            <p:cNvSpPr/>
            <p:nvPr/>
          </p:nvSpPr>
          <p:spPr>
            <a:xfrm>
              <a:off x="6172200" y="1691640"/>
              <a:ext cx="2743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Toeplitz</a:t>
              </a:r>
              <a:endParaRPr lang="en-US" sz="2200" dirty="0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9B085676-BD34-F2F1-3D7B-9AA0242A0B40}"/>
                </a:ext>
              </a:extLst>
            </p:cNvPr>
            <p:cNvSpPr/>
            <p:nvPr/>
          </p:nvSpPr>
          <p:spPr>
            <a:xfrm>
              <a:off x="6172200" y="205740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Matrix Convolution</a:t>
              </a:r>
              <a:endParaRPr lang="en-US" sz="1200" dirty="0"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E93FB128-5055-2619-ED81-3ACBD75A0E0F}"/>
                </a:ext>
              </a:extLst>
            </p:cNvPr>
            <p:cNvSpPr/>
            <p:nvPr/>
          </p:nvSpPr>
          <p:spPr>
            <a:xfrm>
              <a:off x="6172200" y="2697480"/>
              <a:ext cx="2743200" cy="914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803164A8-6A25-195D-469A-1E2C1FA805EC}"/>
                </a:ext>
              </a:extLst>
            </p:cNvPr>
            <p:cNvSpPr/>
            <p:nvPr/>
          </p:nvSpPr>
          <p:spPr>
            <a:xfrm>
              <a:off x="6172200" y="2788920"/>
              <a:ext cx="2743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K-Means</a:t>
              </a:r>
              <a:endParaRPr lang="en-US" sz="2200" dirty="0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56B17EE9-9275-ABEA-9DFF-B6A14C9B2E7C}"/>
                </a:ext>
              </a:extLst>
            </p:cNvPr>
            <p:cNvSpPr/>
            <p:nvPr/>
          </p:nvSpPr>
          <p:spPr>
            <a:xfrm>
              <a:off x="6172200" y="315468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Color Quantization</a:t>
              </a:r>
              <a:endParaRPr lang="en-US" sz="1200" dirty="0"/>
            </a:p>
          </p:txBody>
        </p:sp>
        <p:sp>
          <p:nvSpPr>
            <p:cNvPr id="22" name="Shape 16">
              <a:extLst>
                <a:ext uri="{FF2B5EF4-FFF2-40B4-BE49-F238E27FC236}">
                  <a16:creationId xmlns:a16="http://schemas.microsoft.com/office/drawing/2014/main" id="{154AC4D6-F941-A984-A040-DCB5DF5BB474}"/>
                </a:ext>
              </a:extLst>
            </p:cNvPr>
            <p:cNvSpPr/>
            <p:nvPr/>
          </p:nvSpPr>
          <p:spPr>
            <a:xfrm>
              <a:off x="6172200" y="3794760"/>
              <a:ext cx="2743200" cy="914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E723BE94-FA40-E057-C192-EC1147A8DFA9}"/>
                </a:ext>
              </a:extLst>
            </p:cNvPr>
            <p:cNvSpPr/>
            <p:nvPr/>
          </p:nvSpPr>
          <p:spPr>
            <a:xfrm>
              <a:off x="6172200" y="3886200"/>
              <a:ext cx="2743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Canny</a:t>
              </a:r>
              <a:endParaRPr lang="en-US" sz="2200" dirty="0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0F0F9D3D-661B-EA29-0C5D-1CE2DF90E2B8}"/>
                </a:ext>
              </a:extLst>
            </p:cNvPr>
            <p:cNvSpPr/>
            <p:nvPr/>
          </p:nvSpPr>
          <p:spPr>
            <a:xfrm>
              <a:off x="6172200" y="425196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Edge Detection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A847D6-974B-DE74-9609-B157D55BCC2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F41FA67-EF7B-D7D1-A3DE-525CE3A23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822960" cy="82296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C3F86E0D-EF7E-EBF2-06ED-333AE11CF4A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63F8D1C-811D-8B4D-0BDF-8B06ED914A24}"/>
              </a:ext>
            </a:extLst>
          </p:cNvPr>
          <p:cNvSpPr/>
          <p:nvPr/>
        </p:nvSpPr>
        <p:spPr>
          <a:xfrm>
            <a:off x="987552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7229ABA-DF6B-AC4A-158D-CEA3B60C4175}"/>
              </a:ext>
            </a:extLst>
          </p:cNvPr>
          <p:cNvSpPr/>
          <p:nvPr/>
        </p:nvSpPr>
        <p:spPr>
          <a:xfrm>
            <a:off x="987552" y="457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 does this research address?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A197500-CC18-C58F-7B22-418C99CC4A00}"/>
              </a:ext>
            </a:extLst>
          </p:cNvPr>
          <p:cNvSpPr/>
          <p:nvPr/>
        </p:nvSpPr>
        <p:spPr>
          <a:xfrm>
            <a:off x="274320" y="1097280"/>
            <a:ext cx="4206240" cy="1691640"/>
          </a:xfrm>
          <a:prstGeom prst="rect">
            <a:avLst/>
          </a:prstGeom>
          <a:noFill/>
          <a:ln w="25400">
            <a:solidFill>
              <a:schemeClr val="bg2">
                <a:lumMod val="1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CDC102EA-B4B6-52B6-4855-8C51E8CFD4E6}"/>
              </a:ext>
            </a:extLst>
          </p:cNvPr>
          <p:cNvSpPr/>
          <p:nvPr/>
        </p:nvSpPr>
        <p:spPr>
          <a:xfrm>
            <a:off x="274320" y="1097280"/>
            <a:ext cx="109728" cy="1691640"/>
          </a:xfrm>
          <a:prstGeom prst="rect">
            <a:avLst/>
          </a:prstGeom>
          <a:noFill/>
          <a:ln/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200CE4D-7599-8CC1-FC94-82BD340EC149}"/>
              </a:ext>
            </a:extLst>
          </p:cNvPr>
          <p:cNvSpPr/>
          <p:nvPr/>
        </p:nvSpPr>
        <p:spPr>
          <a:xfrm>
            <a:off x="475488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Act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8747A54-B719-4436-C0D3-3DA83FC49705}"/>
              </a:ext>
            </a:extLst>
          </p:cNvPr>
          <p:cNvSpPr/>
          <p:nvPr/>
        </p:nvSpPr>
        <p:spPr>
          <a:xfrm>
            <a:off x="475488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Removing enough detail to appear drawn, while keeping enough to remain recognizable — texture must be removed, color transitions smoothed, but contours preserved.</a:t>
            </a:r>
            <a:endParaRPr lang="en-US" sz="12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22A6054-D774-363E-6179-AA86ADB3BE1E}"/>
              </a:ext>
            </a:extLst>
          </p:cNvPr>
          <p:cNvSpPr/>
          <p:nvPr/>
        </p:nvSpPr>
        <p:spPr>
          <a:xfrm>
            <a:off x="4709160" y="1097280"/>
            <a:ext cx="4206240" cy="1691640"/>
          </a:xfrm>
          <a:prstGeom prst="rect">
            <a:avLst/>
          </a:prstGeom>
          <a:noFill/>
          <a:ln w="25400">
            <a:solidFill>
              <a:schemeClr val="bg2">
                <a:lumMod val="1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E9F6D477-9569-5752-F848-60F984174629}"/>
              </a:ext>
            </a:extLst>
          </p:cNvPr>
          <p:cNvSpPr/>
          <p:nvPr/>
        </p:nvSpPr>
        <p:spPr>
          <a:xfrm>
            <a:off x="4709160" y="1097280"/>
            <a:ext cx="109728" cy="1691640"/>
          </a:xfrm>
          <a:prstGeom prst="rect">
            <a:avLst/>
          </a:prstGeom>
          <a:noFill/>
          <a:ln/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B7566F2-E075-686A-B618-3257A7031ECB}"/>
              </a:ext>
            </a:extLst>
          </p:cNvPr>
          <p:cNvSpPr/>
          <p:nvPr/>
        </p:nvSpPr>
        <p:spPr>
          <a:xfrm>
            <a:off x="4910328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Uniform Effect Problem</a:t>
            </a:r>
            <a:endParaRPr lang="en-US" sz="15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96EA25D-FEEE-E76F-E79A-769BFBF5E06E}"/>
              </a:ext>
            </a:extLst>
          </p:cNvPr>
          <p:cNvSpPr/>
          <p:nvPr/>
        </p:nvSpPr>
        <p:spPr>
          <a:xfrm>
            <a:off x="4910328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cartoon rendering applies effects uniformly across the entire frame — unable to intelligently focus on the most visually salient objects.</a:t>
            </a:r>
            <a:endParaRPr lang="en-US" sz="12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D642834-7C35-3CAA-C12F-398E4C5AA622}"/>
              </a:ext>
            </a:extLst>
          </p:cNvPr>
          <p:cNvSpPr/>
          <p:nvPr/>
        </p:nvSpPr>
        <p:spPr>
          <a:xfrm>
            <a:off x="274320" y="2971800"/>
            <a:ext cx="4206240" cy="1691640"/>
          </a:xfrm>
          <a:prstGeom prst="rect">
            <a:avLst/>
          </a:prstGeom>
          <a:noFill/>
          <a:ln w="25400">
            <a:solidFill>
              <a:schemeClr val="bg2">
                <a:lumMod val="1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440D343-4BED-0CD0-1143-870298023DA5}"/>
              </a:ext>
            </a:extLst>
          </p:cNvPr>
          <p:cNvSpPr/>
          <p:nvPr/>
        </p:nvSpPr>
        <p:spPr>
          <a:xfrm>
            <a:off x="274320" y="2971800"/>
            <a:ext cx="109728" cy="1691640"/>
          </a:xfrm>
          <a:prstGeom prst="rect">
            <a:avLst/>
          </a:prstGeom>
          <a:noFill/>
          <a:ln/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D6E9CBA-7871-3AD9-E039-5E37A7912A15}"/>
              </a:ext>
            </a:extLst>
          </p:cNvPr>
          <p:cNvSpPr/>
          <p:nvPr/>
        </p:nvSpPr>
        <p:spPr>
          <a:xfrm>
            <a:off x="475488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Overhead</a:t>
            </a:r>
            <a:endParaRPr lang="en-US" sz="15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8260C72-AE3F-F791-6B2F-037110AE7B88}"/>
              </a:ext>
            </a:extLst>
          </p:cNvPr>
          <p:cNvSpPr/>
          <p:nvPr/>
        </p:nvSpPr>
        <p:spPr>
          <a:xfrm>
            <a:off x="475488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Stylizing all detected objects simultaneously in robotic vision systems is counterproductive and computationally wasteful in real-time scenarios.</a:t>
            </a:r>
            <a:endParaRPr lang="en-US" sz="12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C2FBEF1-E707-A93A-33B0-3FE5F267B708}"/>
              </a:ext>
            </a:extLst>
          </p:cNvPr>
          <p:cNvSpPr/>
          <p:nvPr/>
        </p:nvSpPr>
        <p:spPr>
          <a:xfrm>
            <a:off x="4709160" y="2971800"/>
            <a:ext cx="4206240" cy="1691640"/>
          </a:xfrm>
          <a:prstGeom prst="rect">
            <a:avLst/>
          </a:prstGeom>
          <a:noFill/>
          <a:ln w="25400">
            <a:solidFill>
              <a:schemeClr val="bg2">
                <a:lumMod val="1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85D4EC8-D617-4759-FCE6-1D6D8E71D9BB}"/>
              </a:ext>
            </a:extLst>
          </p:cNvPr>
          <p:cNvSpPr/>
          <p:nvPr/>
        </p:nvSpPr>
        <p:spPr>
          <a:xfrm>
            <a:off x="4709160" y="2971800"/>
            <a:ext cx="109728" cy="1691640"/>
          </a:xfrm>
          <a:prstGeom prst="rect">
            <a:avLst/>
          </a:prstGeom>
          <a:noFill/>
          <a:ln/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C75765E-29C6-DFF6-FC2A-EAFD084B1E0C}"/>
              </a:ext>
            </a:extLst>
          </p:cNvPr>
          <p:cNvSpPr/>
          <p:nvPr/>
        </p:nvSpPr>
        <p:spPr>
          <a:xfrm>
            <a:off x="4910328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Lack of Mathematical Rigor</a:t>
            </a:r>
            <a:endParaRPr lang="en-US" sz="15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545B01A7-21F8-795A-4F01-40E62E90DE81}"/>
              </a:ext>
            </a:extLst>
          </p:cNvPr>
          <p:cNvSpPr/>
          <p:nvPr/>
        </p:nvSpPr>
        <p:spPr>
          <a:xfrm>
            <a:off x="4910328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Prior methods treat cartoonification as pattern matching without formal mathematical grounding, making them non-interpretable and hard to analyze.</a:t>
            </a:r>
            <a:endParaRPr lang="en-US" sz="12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7A9BAAB-C0AE-C8D2-44E2-CFBB1E5F4791}"/>
              </a:ext>
            </a:extLst>
          </p:cNvPr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02632ACF-FE5E-1E6D-F073-FDD7D05B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681728"/>
            <a:ext cx="20116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0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2EB2840-E6F5-8C93-D00E-E05B6C2066BB}"/>
              </a:ext>
            </a:extLst>
          </p:cNvPr>
          <p:cNvGrpSpPr/>
          <p:nvPr/>
        </p:nvGrpSpPr>
        <p:grpSpPr>
          <a:xfrm>
            <a:off x="0" y="0"/>
            <a:ext cx="9144000" cy="5052060"/>
            <a:chOff x="0" y="0"/>
            <a:chExt cx="9144000" cy="50520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FAC2A55-8A57-638D-3902-3ADF0904047C}"/>
                </a:ext>
              </a:extLst>
            </p:cNvPr>
            <p:cNvGrpSpPr/>
            <p:nvPr/>
          </p:nvGrpSpPr>
          <p:grpSpPr>
            <a:xfrm>
              <a:off x="0" y="0"/>
              <a:ext cx="9144000" cy="1005840"/>
              <a:chOff x="0" y="0"/>
              <a:chExt cx="9144000" cy="1005840"/>
            </a:xfrm>
          </p:grpSpPr>
          <p:sp>
            <p:nvSpPr>
              <p:cNvPr id="3" name="Shape 0">
                <a:extLst>
                  <a:ext uri="{FF2B5EF4-FFF2-40B4-BE49-F238E27FC236}">
                    <a16:creationId xmlns:a16="http://schemas.microsoft.com/office/drawing/2014/main" id="{0C118569-D749-FE9E-1F52-88340DD27D3E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1005840"/>
              </a:xfrm>
              <a:prstGeom prst="rect">
                <a:avLst/>
              </a:prstGeom>
              <a:solidFill>
                <a:srgbClr val="AE1D49"/>
              </a:solidFill>
              <a:ln w="12700">
                <a:solidFill>
                  <a:srgbClr val="AE1D49"/>
                </a:solidFill>
                <a:prstDash val="solid"/>
              </a:ln>
            </p:spPr>
          </p:sp>
          <p:pic>
            <p:nvPicPr>
              <p:cNvPr id="4" name="Image 0" descr="preencoded.png">
                <a:extLst>
                  <a:ext uri="{FF2B5EF4-FFF2-40B4-BE49-F238E27FC236}">
                    <a16:creationId xmlns:a16="http://schemas.microsoft.com/office/drawing/2014/main" id="{A0E711B9-E933-B05E-1616-CFB014A286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592" y="73152"/>
                <a:ext cx="822960" cy="822960"/>
              </a:xfrm>
              <a:prstGeom prst="rect">
                <a:avLst/>
              </a:prstGeom>
            </p:spPr>
          </p:pic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8A81F298-73EC-A4CD-7A16-6397DF3AE6FC}"/>
                  </a:ext>
                </a:extLst>
              </p:cNvPr>
              <p:cNvSpPr/>
              <p:nvPr/>
            </p:nvSpPr>
            <p:spPr>
              <a:xfrm>
                <a:off x="1143000" y="18288"/>
                <a:ext cx="7772400" cy="9692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2000" dirty="0"/>
              </a:p>
            </p:txBody>
          </p:sp>
        </p:grpSp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86CD514E-D90F-13B7-4572-05122A8A4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9440" y="4640580"/>
              <a:ext cx="2011680" cy="411480"/>
            </a:xfrm>
            <a:prstGeom prst="rect">
              <a:avLst/>
            </a:prstGeom>
          </p:spPr>
        </p:pic>
      </p:grpSp>
      <p:sp>
        <p:nvSpPr>
          <p:cNvPr id="13" name="Shape 0">
            <a:extLst>
              <a:ext uri="{FF2B5EF4-FFF2-40B4-BE49-F238E27FC236}">
                <a16:creationId xmlns:a16="http://schemas.microsoft.com/office/drawing/2014/main" id="{C25C0074-2880-CA33-C935-AAD73DB73DAE}"/>
              </a:ext>
            </a:extLst>
          </p:cNvPr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noFill/>
          <a:ln/>
        </p:spPr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80824ED-F7AF-AF0A-8569-542F54C6814D}"/>
              </a:ext>
            </a:extLst>
          </p:cNvPr>
          <p:cNvSpPr/>
          <p:nvPr/>
        </p:nvSpPr>
        <p:spPr>
          <a:xfrm>
            <a:off x="1211580" y="822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1D599B1A-8BF1-7B52-AA7F-AAF02F1AB78E}"/>
              </a:ext>
            </a:extLst>
          </p:cNvPr>
          <p:cNvSpPr/>
          <p:nvPr/>
        </p:nvSpPr>
        <p:spPr>
          <a:xfrm>
            <a:off x="1208968" y="-50292"/>
            <a:ext cx="6296297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achieves</a:t>
            </a:r>
            <a:endParaRPr lang="en-US" sz="3000" dirty="0">
              <a:solidFill>
                <a:schemeClr val="bg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2A0FE4-4B27-5268-AF5B-3D6AE4E3A797}"/>
              </a:ext>
            </a:extLst>
          </p:cNvPr>
          <p:cNvGrpSpPr/>
          <p:nvPr/>
        </p:nvGrpSpPr>
        <p:grpSpPr>
          <a:xfrm>
            <a:off x="228600" y="1193292"/>
            <a:ext cx="8732520" cy="3241548"/>
            <a:chOff x="3749040" y="320040"/>
            <a:chExt cx="5212080" cy="4251960"/>
          </a:xfrm>
        </p:grpSpPr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A3C06267-17DD-2ADD-846C-EDB3528ABA84}"/>
                </a:ext>
              </a:extLst>
            </p:cNvPr>
            <p:cNvSpPr/>
            <p:nvPr/>
          </p:nvSpPr>
          <p:spPr>
            <a:xfrm>
              <a:off x="3749040" y="320040"/>
              <a:ext cx="5212080" cy="96012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B1133D06-63AD-355F-08BB-A5D1B428BA2D}"/>
                </a:ext>
              </a:extLst>
            </p:cNvPr>
            <p:cNvSpPr/>
            <p:nvPr/>
          </p:nvSpPr>
          <p:spPr>
            <a:xfrm>
              <a:off x="3840480" y="393192"/>
              <a:ext cx="5486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01</a:t>
              </a:r>
              <a:endParaRPr lang="en-US" sz="2600" dirty="0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3DD7B663-359B-F72E-44C4-864DC10E67F8}"/>
                </a:ext>
              </a:extLst>
            </p:cNvPr>
            <p:cNvSpPr/>
            <p:nvPr/>
          </p:nvSpPr>
          <p:spPr>
            <a:xfrm>
              <a:off x="4434840" y="393192"/>
              <a:ext cx="4389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Real-Time Cartoonification</a:t>
              </a:r>
              <a:endParaRPr lang="en-US" sz="1500" dirty="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85C3782F-23E2-EB82-0FD8-A82D2270B124}"/>
                </a:ext>
              </a:extLst>
            </p:cNvPr>
            <p:cNvSpPr/>
            <p:nvPr/>
          </p:nvSpPr>
          <p:spPr>
            <a:xfrm>
              <a:off x="4434840" y="777240"/>
              <a:ext cx="4389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an autonomous system to cartoonify images in real-time within a robot vision pipeline.</a:t>
              </a:r>
              <a:endParaRPr lang="en-US" sz="1150" dirty="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AF66E774-84F8-72F5-D446-417CF025B6D9}"/>
                </a:ext>
              </a:extLst>
            </p:cNvPr>
            <p:cNvSpPr/>
            <p:nvPr/>
          </p:nvSpPr>
          <p:spPr>
            <a:xfrm>
              <a:off x="3749040" y="1417320"/>
              <a:ext cx="5212080" cy="96012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34F96CC9-D3A4-2D6A-DA84-16ABAE0DCDE0}"/>
                </a:ext>
              </a:extLst>
            </p:cNvPr>
            <p:cNvSpPr/>
            <p:nvPr/>
          </p:nvSpPr>
          <p:spPr>
            <a:xfrm>
              <a:off x="3840480" y="1490472"/>
              <a:ext cx="5486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02</a:t>
              </a:r>
              <a:endParaRPr lang="en-US" sz="26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068217FE-FE73-8BC8-AD27-2A8435AAF463}"/>
                </a:ext>
              </a:extLst>
            </p:cNvPr>
            <p:cNvSpPr/>
            <p:nvPr/>
          </p:nvSpPr>
          <p:spPr>
            <a:xfrm>
              <a:off x="4434840" y="1490472"/>
              <a:ext cx="4389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Toeplitz Matrix Convolution</a:t>
              </a:r>
              <a:endParaRPr lang="en-US" sz="1500" dirty="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F37D7608-524D-D44F-E25D-1150BF5CDEB5}"/>
                </a:ext>
              </a:extLst>
            </p:cNvPr>
            <p:cNvSpPr/>
            <p:nvPr/>
          </p:nvSpPr>
          <p:spPr>
            <a:xfrm>
              <a:off x="4434840" y="1874520"/>
              <a:ext cx="4389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Replace standard convolution with LSI-based Toeplitz matrix representation for analytical tractability.</a:t>
              </a:r>
              <a:endParaRPr lang="en-US" sz="1150" dirty="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9067A3AD-72CF-30D7-AA91-71DF35FEC73E}"/>
                </a:ext>
              </a:extLst>
            </p:cNvPr>
            <p:cNvSpPr/>
            <p:nvPr/>
          </p:nvSpPr>
          <p:spPr>
            <a:xfrm>
              <a:off x="3749040" y="2514600"/>
              <a:ext cx="5212080" cy="96012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E3BB1663-86C9-0014-3F01-A564B35D3E32}"/>
                </a:ext>
              </a:extLst>
            </p:cNvPr>
            <p:cNvSpPr/>
            <p:nvPr/>
          </p:nvSpPr>
          <p:spPr>
            <a:xfrm>
              <a:off x="3840480" y="2587752"/>
              <a:ext cx="5486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03</a:t>
              </a:r>
              <a:endParaRPr lang="en-US" sz="2600" dirty="0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E0C0729B-B5EB-B6AC-85E3-483CCDC811FC}"/>
                </a:ext>
              </a:extLst>
            </p:cNvPr>
            <p:cNvSpPr/>
            <p:nvPr/>
          </p:nvSpPr>
          <p:spPr>
            <a:xfrm>
              <a:off x="4434840" y="2587752"/>
              <a:ext cx="4389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Intelligent Region Selection</a:t>
              </a:r>
              <a:endParaRPr lang="en-US" sz="1500" dirty="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9EBF8D16-FDB3-A128-9FFE-81D4875C3AD1}"/>
                </a:ext>
              </a:extLst>
            </p:cNvPr>
            <p:cNvSpPr/>
            <p:nvPr/>
          </p:nvSpPr>
          <p:spPr>
            <a:xfrm>
              <a:off x="4434840" y="2971800"/>
              <a:ext cx="4389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YOLOv8 with a composite weighted scoring function to identify the most salient object per frame.</a:t>
              </a:r>
              <a:endParaRPr lang="en-US" sz="1150" dirty="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6C8E4B74-7146-2A99-3B73-B08E07C5F2AA}"/>
                </a:ext>
              </a:extLst>
            </p:cNvPr>
            <p:cNvSpPr/>
            <p:nvPr/>
          </p:nvSpPr>
          <p:spPr>
            <a:xfrm>
              <a:off x="3749040" y="3611880"/>
              <a:ext cx="5212080" cy="96012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30" name="Text 17">
              <a:extLst>
                <a:ext uri="{FF2B5EF4-FFF2-40B4-BE49-F238E27FC236}">
                  <a16:creationId xmlns:a16="http://schemas.microsoft.com/office/drawing/2014/main" id="{0C8A61D4-C83D-1D2C-13FD-2B345449E081}"/>
                </a:ext>
              </a:extLst>
            </p:cNvPr>
            <p:cNvSpPr/>
            <p:nvPr/>
          </p:nvSpPr>
          <p:spPr>
            <a:xfrm>
              <a:off x="3840480" y="3685032"/>
              <a:ext cx="5486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6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04</a:t>
              </a:r>
              <a:endParaRPr lang="en-US" sz="2600" dirty="0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86289FD0-F504-8D16-EB52-78A3CAEC0582}"/>
                </a:ext>
              </a:extLst>
            </p:cNvPr>
            <p:cNvSpPr/>
            <p:nvPr/>
          </p:nvSpPr>
          <p:spPr>
            <a:xfrm>
              <a:off x="4434840" y="3685032"/>
              <a:ext cx="4389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Quantitative Validation</a:t>
              </a:r>
              <a:endParaRPr lang="en-US" sz="1500" dirty="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EED99715-2D3A-0D8F-01BD-B7E3EB9710C8}"/>
                </a:ext>
              </a:extLst>
            </p:cNvPr>
            <p:cNvSpPr/>
            <p:nvPr/>
          </p:nvSpPr>
          <p:spPr>
            <a:xfrm>
              <a:off x="4434840" y="4069080"/>
              <a:ext cx="4389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Evaluate stylization quality via Color Simplification Ratio, Edge Preservation Ratio, and MSE-based score.</a:t>
              </a:r>
              <a:endParaRPr lang="en-US" sz="1150" dirty="0"/>
            </a:p>
          </p:txBody>
        </p:sp>
      </p:grpSp>
    </p:spTree>
    <p:extLst>
      <p:ext uri="{BB962C8B-B14F-4D97-AF65-F5344CB8AC3E}">
        <p14:creationId xmlns:p14="http://schemas.microsoft.com/office/powerpoint/2010/main" val="50043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E3B592-8B07-1B88-E81C-6915D7DA7BA0}"/>
              </a:ext>
            </a:extLst>
          </p:cNvPr>
          <p:cNvGrpSpPr/>
          <p:nvPr/>
        </p:nvGrpSpPr>
        <p:grpSpPr>
          <a:xfrm>
            <a:off x="0" y="0"/>
            <a:ext cx="9144000" cy="5052060"/>
            <a:chOff x="0" y="0"/>
            <a:chExt cx="9144000" cy="50520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5028219-4B1B-0217-0B77-4B75F7890557}"/>
                </a:ext>
              </a:extLst>
            </p:cNvPr>
            <p:cNvGrpSpPr/>
            <p:nvPr/>
          </p:nvGrpSpPr>
          <p:grpSpPr>
            <a:xfrm>
              <a:off x="0" y="0"/>
              <a:ext cx="9144000" cy="1005840"/>
              <a:chOff x="0" y="0"/>
              <a:chExt cx="9144000" cy="1005840"/>
            </a:xfrm>
          </p:grpSpPr>
          <p:sp>
            <p:nvSpPr>
              <p:cNvPr id="5" name="Shape 0">
                <a:extLst>
                  <a:ext uri="{FF2B5EF4-FFF2-40B4-BE49-F238E27FC236}">
                    <a16:creationId xmlns:a16="http://schemas.microsoft.com/office/drawing/2014/main" id="{2113BDE9-3E69-6465-BC1B-877AD844881F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1005840"/>
              </a:xfrm>
              <a:prstGeom prst="rect">
                <a:avLst/>
              </a:prstGeom>
              <a:solidFill>
                <a:srgbClr val="AE1D49"/>
              </a:solidFill>
              <a:ln w="12700">
                <a:solidFill>
                  <a:srgbClr val="AE1D49"/>
                </a:solidFill>
                <a:prstDash val="solid"/>
              </a:ln>
            </p:spPr>
          </p:sp>
          <p:pic>
            <p:nvPicPr>
              <p:cNvPr id="6" name="Image 0" descr="preencoded.png">
                <a:extLst>
                  <a:ext uri="{FF2B5EF4-FFF2-40B4-BE49-F238E27FC236}">
                    <a16:creationId xmlns:a16="http://schemas.microsoft.com/office/drawing/2014/main" id="{1AC9738F-BEF1-96F1-F5DC-DD636BD9F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592" y="73152"/>
                <a:ext cx="822960" cy="822960"/>
              </a:xfrm>
              <a:prstGeom prst="rect">
                <a:avLst/>
              </a:prstGeom>
            </p:spPr>
          </p:pic>
          <p:sp>
            <p:nvSpPr>
              <p:cNvPr id="7" name="Text 1">
                <a:extLst>
                  <a:ext uri="{FF2B5EF4-FFF2-40B4-BE49-F238E27FC236}">
                    <a16:creationId xmlns:a16="http://schemas.microsoft.com/office/drawing/2014/main" id="{183A5682-EA60-3A8A-F145-B77D42740454}"/>
                  </a:ext>
                </a:extLst>
              </p:cNvPr>
              <p:cNvSpPr/>
              <p:nvPr/>
            </p:nvSpPr>
            <p:spPr>
              <a:xfrm>
                <a:off x="1143000" y="18288"/>
                <a:ext cx="7772400" cy="9692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2000" dirty="0"/>
              </a:p>
            </p:txBody>
          </p:sp>
        </p:grpSp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71C377DF-3022-2BE0-53A3-9988B49E3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9440" y="4640580"/>
              <a:ext cx="2011680" cy="411480"/>
            </a:xfrm>
            <a:prstGeom prst="rect">
              <a:avLst/>
            </a:prstGeom>
          </p:spPr>
        </p:pic>
      </p:grpSp>
      <p:sp>
        <p:nvSpPr>
          <p:cNvPr id="15" name="Shape 0">
            <a:extLst>
              <a:ext uri="{FF2B5EF4-FFF2-40B4-BE49-F238E27FC236}">
                <a16:creationId xmlns:a16="http://schemas.microsoft.com/office/drawing/2014/main" id="{2914518C-2780-7C5D-1FA7-BCF96AF52EB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05280F3-2C19-64BB-C52D-0590A56BAAAB}"/>
              </a:ext>
            </a:extLst>
          </p:cNvPr>
          <p:cNvSpPr/>
          <p:nvPr/>
        </p:nvSpPr>
        <p:spPr>
          <a:xfrm>
            <a:off x="1139734" y="904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97A3591E-9C22-677C-33B6-3FF6EC3048BA}"/>
              </a:ext>
            </a:extLst>
          </p:cNvPr>
          <p:cNvSpPr/>
          <p:nvPr/>
        </p:nvSpPr>
        <p:spPr>
          <a:xfrm>
            <a:off x="1143000" y="52186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&amp; processing stages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Shape 21">
            <a:extLst>
              <a:ext uri="{FF2B5EF4-FFF2-40B4-BE49-F238E27FC236}">
                <a16:creationId xmlns:a16="http://schemas.microsoft.com/office/drawing/2014/main" id="{CA2C6A66-3983-7101-E203-44B429592B01}"/>
              </a:ext>
            </a:extLst>
          </p:cNvPr>
          <p:cNvSpPr/>
          <p:nvPr/>
        </p:nvSpPr>
        <p:spPr>
          <a:xfrm>
            <a:off x="320040" y="3310128"/>
            <a:ext cx="2011680" cy="160020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A00C751F-710C-E565-793E-E3653A622880}"/>
              </a:ext>
            </a:extLst>
          </p:cNvPr>
          <p:cNvSpPr/>
          <p:nvPr/>
        </p:nvSpPr>
        <p:spPr>
          <a:xfrm>
            <a:off x="320040" y="373075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Toeplitz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200" dirty="0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76F05908-437C-841E-5C27-8DD7C017CEA0}"/>
              </a:ext>
            </a:extLst>
          </p:cNvPr>
          <p:cNvSpPr/>
          <p:nvPr/>
        </p:nvSpPr>
        <p:spPr>
          <a:xfrm>
            <a:off x="2468880" y="3310128"/>
            <a:ext cx="2011680" cy="160020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EACA4318-34DD-CF7C-7574-E37CD5FB0317}"/>
              </a:ext>
            </a:extLst>
          </p:cNvPr>
          <p:cNvSpPr/>
          <p:nvPr/>
        </p:nvSpPr>
        <p:spPr>
          <a:xfrm>
            <a:off x="2468880" y="373075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44" name="Shape 29">
            <a:extLst>
              <a:ext uri="{FF2B5EF4-FFF2-40B4-BE49-F238E27FC236}">
                <a16:creationId xmlns:a16="http://schemas.microsoft.com/office/drawing/2014/main" id="{309D40F5-4439-BAE1-73AA-262D38BE852B}"/>
              </a:ext>
            </a:extLst>
          </p:cNvPr>
          <p:cNvSpPr/>
          <p:nvPr/>
        </p:nvSpPr>
        <p:spPr>
          <a:xfrm>
            <a:off x="4617720" y="3310128"/>
            <a:ext cx="2011680" cy="160020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6CDA8992-AAEB-0937-53CF-C45832BFC831}"/>
              </a:ext>
            </a:extLst>
          </p:cNvPr>
          <p:cNvSpPr/>
          <p:nvPr/>
        </p:nvSpPr>
        <p:spPr>
          <a:xfrm>
            <a:off x="4617720" y="373075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48" name="Shape 33">
            <a:extLst>
              <a:ext uri="{FF2B5EF4-FFF2-40B4-BE49-F238E27FC236}">
                <a16:creationId xmlns:a16="http://schemas.microsoft.com/office/drawing/2014/main" id="{42FBFAD0-3E84-00D4-7687-F92F35359C44}"/>
              </a:ext>
            </a:extLst>
          </p:cNvPr>
          <p:cNvSpPr/>
          <p:nvPr/>
        </p:nvSpPr>
        <p:spPr>
          <a:xfrm>
            <a:off x="6766560" y="3310128"/>
            <a:ext cx="2011680" cy="160020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081D92A-3880-1767-25B6-FF860CF5F1C4}"/>
              </a:ext>
            </a:extLst>
          </p:cNvPr>
          <p:cNvGrpSpPr/>
          <p:nvPr/>
        </p:nvGrpSpPr>
        <p:grpSpPr>
          <a:xfrm>
            <a:off x="274320" y="1078012"/>
            <a:ext cx="8686800" cy="3420836"/>
            <a:chOff x="274320" y="960120"/>
            <a:chExt cx="8641080" cy="3200400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4C8548C1-D442-5D78-9F86-EE7BFBA7110C}"/>
                </a:ext>
              </a:extLst>
            </p:cNvPr>
            <p:cNvSpPr/>
            <p:nvPr/>
          </p:nvSpPr>
          <p:spPr>
            <a:xfrm>
              <a:off x="274320" y="960120"/>
              <a:ext cx="4206240" cy="822960"/>
            </a:xfrm>
            <a:prstGeom prst="rect">
              <a:avLst/>
            </a:prstGeom>
            <a:noFill/>
            <a:ln w="254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9424E8A6-1F01-719E-F5BD-AE12161D7C66}"/>
                </a:ext>
              </a:extLst>
            </p:cNvPr>
            <p:cNvSpPr/>
            <p:nvPr/>
          </p:nvSpPr>
          <p:spPr>
            <a:xfrm>
              <a:off x="274320" y="960120"/>
              <a:ext cx="91440" cy="822960"/>
            </a:xfrm>
            <a:prstGeom prst="rect">
              <a:avLst/>
            </a:prstGeom>
            <a:noFill/>
            <a:ln/>
          </p:spPr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3EE180B6-DEDD-2ECE-9FCE-6BEB93FA89C5}"/>
                </a:ext>
              </a:extLst>
            </p:cNvPr>
            <p:cNvSpPr/>
            <p:nvPr/>
          </p:nvSpPr>
          <p:spPr>
            <a:xfrm>
              <a:off x="457200" y="101498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Convolution</a:t>
              </a:r>
              <a:endParaRPr lang="en-US" sz="1200" dirty="0"/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ADF9110C-B0BA-B286-A565-304B06F25145}"/>
                </a:ext>
              </a:extLst>
            </p:cNvPr>
            <p:cNvSpPr/>
            <p:nvPr/>
          </p:nvSpPr>
          <p:spPr>
            <a:xfrm>
              <a:off x="457200" y="134416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Y(i,j) = Σm Σn I(i−m, j−n)·K(m,n)</a:t>
              </a:r>
              <a:endParaRPr lang="en-US" sz="1100" dirty="0"/>
            </a:p>
          </p:txBody>
        </p:sp>
        <p:sp>
          <p:nvSpPr>
            <p:cNvPr id="22" name="Shape 7">
              <a:extLst>
                <a:ext uri="{FF2B5EF4-FFF2-40B4-BE49-F238E27FC236}">
                  <a16:creationId xmlns:a16="http://schemas.microsoft.com/office/drawing/2014/main" id="{BAA6913D-05D3-CD72-B6BC-77537B54EE50}"/>
                </a:ext>
              </a:extLst>
            </p:cNvPr>
            <p:cNvSpPr/>
            <p:nvPr/>
          </p:nvSpPr>
          <p:spPr>
            <a:xfrm>
              <a:off x="4709160" y="960120"/>
              <a:ext cx="4206240" cy="822960"/>
            </a:xfrm>
            <a:prstGeom prst="rect">
              <a:avLst/>
            </a:prstGeom>
            <a:noFill/>
            <a:ln w="254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23" name="Shape 8">
              <a:extLst>
                <a:ext uri="{FF2B5EF4-FFF2-40B4-BE49-F238E27FC236}">
                  <a16:creationId xmlns:a16="http://schemas.microsoft.com/office/drawing/2014/main" id="{0090B90D-68F3-D050-0604-BEDA4918566F}"/>
                </a:ext>
              </a:extLst>
            </p:cNvPr>
            <p:cNvSpPr/>
            <p:nvPr/>
          </p:nvSpPr>
          <p:spPr>
            <a:xfrm>
              <a:off x="4709160" y="960120"/>
              <a:ext cx="91440" cy="822960"/>
            </a:xfrm>
            <a:prstGeom prst="rect">
              <a:avLst/>
            </a:prstGeom>
            <a:noFill/>
            <a:ln/>
          </p:spPr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1625DFEC-C33C-CF76-2F44-A51C631A7331}"/>
                </a:ext>
              </a:extLst>
            </p:cNvPr>
            <p:cNvSpPr/>
            <p:nvPr/>
          </p:nvSpPr>
          <p:spPr>
            <a:xfrm>
              <a:off x="4892040" y="101498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Toeplitz Form</a:t>
              </a:r>
              <a:endParaRPr lang="en-US" sz="1200" dirty="0"/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EA7CCEC3-7CC6-23AA-744B-F0775EBD971A}"/>
                </a:ext>
              </a:extLst>
            </p:cNvPr>
            <p:cNvSpPr/>
            <p:nvPr/>
          </p:nvSpPr>
          <p:spPr>
            <a:xfrm>
              <a:off x="4892040" y="134416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 = Tx  (T = shift-invariant kernel matrix)</a:t>
              </a:r>
              <a:endParaRPr lang="en-US" sz="1100" dirty="0"/>
            </a:p>
          </p:txBody>
        </p:sp>
        <p:sp>
          <p:nvSpPr>
            <p:cNvPr id="26" name="Shape 11">
              <a:extLst>
                <a:ext uri="{FF2B5EF4-FFF2-40B4-BE49-F238E27FC236}">
                  <a16:creationId xmlns:a16="http://schemas.microsoft.com/office/drawing/2014/main" id="{B07C86CB-E7EE-6BEB-1978-7C7A3F8D837F}"/>
                </a:ext>
              </a:extLst>
            </p:cNvPr>
            <p:cNvSpPr/>
            <p:nvPr/>
          </p:nvSpPr>
          <p:spPr>
            <a:xfrm>
              <a:off x="274320" y="1920240"/>
              <a:ext cx="4206240" cy="822960"/>
            </a:xfrm>
            <a:prstGeom prst="rect">
              <a:avLst/>
            </a:prstGeom>
            <a:noFill/>
            <a:ln w="254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3B24B3C3-021A-E8E0-739D-DA2914CB8E9F}"/>
                </a:ext>
              </a:extLst>
            </p:cNvPr>
            <p:cNvSpPr/>
            <p:nvPr/>
          </p:nvSpPr>
          <p:spPr>
            <a:xfrm>
              <a:off x="274320" y="1920240"/>
              <a:ext cx="91440" cy="822960"/>
            </a:xfrm>
            <a:prstGeom prst="rect">
              <a:avLst/>
            </a:prstGeom>
            <a:noFill/>
            <a:ln/>
          </p:spPr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B8B75AD1-BDB4-E048-2880-E930EB64148E}"/>
                </a:ext>
              </a:extLst>
            </p:cNvPr>
            <p:cNvSpPr/>
            <p:nvPr/>
          </p:nvSpPr>
          <p:spPr>
            <a:xfrm>
              <a:off x="457200" y="197510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Scoring Function</a:t>
              </a:r>
              <a:endParaRPr lang="en-US" sz="1200" dirty="0"/>
            </a:p>
          </p:txBody>
        </p:sp>
        <p:sp>
          <p:nvSpPr>
            <p:cNvPr id="29" name="Text 14">
              <a:extLst>
                <a:ext uri="{FF2B5EF4-FFF2-40B4-BE49-F238E27FC236}">
                  <a16:creationId xmlns:a16="http://schemas.microsoft.com/office/drawing/2014/main" id="{207CE267-1767-2D28-56F6-015041E1D8E8}"/>
                </a:ext>
              </a:extLst>
            </p:cNvPr>
            <p:cNvSpPr/>
            <p:nvPr/>
          </p:nvSpPr>
          <p:spPr>
            <a:xfrm>
              <a:off x="457200" y="230428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Score = 0.4·Aᵢⁿᵒʳᵐ + 0.3·Cᵢ + 0.3·sᵢ</a:t>
              </a:r>
              <a:endParaRPr lang="en-US" sz="1100" dirty="0"/>
            </a:p>
          </p:txBody>
        </p:sp>
        <p:sp>
          <p:nvSpPr>
            <p:cNvPr id="30" name="Shape 15">
              <a:extLst>
                <a:ext uri="{FF2B5EF4-FFF2-40B4-BE49-F238E27FC236}">
                  <a16:creationId xmlns:a16="http://schemas.microsoft.com/office/drawing/2014/main" id="{A3AE8C16-4F7D-CC8A-46B5-967E7C67CEFB}"/>
                </a:ext>
              </a:extLst>
            </p:cNvPr>
            <p:cNvSpPr/>
            <p:nvPr/>
          </p:nvSpPr>
          <p:spPr>
            <a:xfrm>
              <a:off x="4709160" y="1920240"/>
              <a:ext cx="4206240" cy="822960"/>
            </a:xfrm>
            <a:prstGeom prst="rect">
              <a:avLst/>
            </a:prstGeom>
            <a:noFill/>
            <a:ln w="254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31" name="Shape 16">
              <a:extLst>
                <a:ext uri="{FF2B5EF4-FFF2-40B4-BE49-F238E27FC236}">
                  <a16:creationId xmlns:a16="http://schemas.microsoft.com/office/drawing/2014/main" id="{6EF6BCCE-0E4E-A365-1ACF-9D2A03090570}"/>
                </a:ext>
              </a:extLst>
            </p:cNvPr>
            <p:cNvSpPr/>
            <p:nvPr/>
          </p:nvSpPr>
          <p:spPr>
            <a:xfrm>
              <a:off x="4709160" y="1920240"/>
              <a:ext cx="91440" cy="822960"/>
            </a:xfrm>
            <a:prstGeom prst="rect">
              <a:avLst/>
            </a:prstGeom>
            <a:noFill/>
            <a:ln/>
          </p:spPr>
        </p:sp>
        <p:sp>
          <p:nvSpPr>
            <p:cNvPr id="32" name="Text 17">
              <a:extLst>
                <a:ext uri="{FF2B5EF4-FFF2-40B4-BE49-F238E27FC236}">
                  <a16:creationId xmlns:a16="http://schemas.microsoft.com/office/drawing/2014/main" id="{1F839F80-F4E5-7BD4-BEA0-114F0BE53F6A}"/>
                </a:ext>
              </a:extLst>
            </p:cNvPr>
            <p:cNvSpPr/>
            <p:nvPr/>
          </p:nvSpPr>
          <p:spPr>
            <a:xfrm>
              <a:off x="4892040" y="197510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K-Means Objective</a:t>
              </a:r>
              <a:endParaRPr lang="en-US" sz="1200" dirty="0"/>
            </a:p>
          </p:txBody>
        </p:sp>
        <p:sp>
          <p:nvSpPr>
            <p:cNvPr id="33" name="Text 18">
              <a:extLst>
                <a:ext uri="{FF2B5EF4-FFF2-40B4-BE49-F238E27FC236}">
                  <a16:creationId xmlns:a16="http://schemas.microsoft.com/office/drawing/2014/main" id="{0095E511-359B-6A3A-369A-72C704FC55D0}"/>
                </a:ext>
              </a:extLst>
            </p:cNvPr>
            <p:cNvSpPr/>
            <p:nvPr/>
          </p:nvSpPr>
          <p:spPr>
            <a:xfrm>
              <a:off x="4892040" y="2304288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min Σₖ Σₓ∈Cᵢ ‖x − μᵢ‖²</a:t>
              </a:r>
              <a:endParaRPr lang="en-US" sz="1100" dirty="0"/>
            </a:p>
          </p:txBody>
        </p:sp>
        <p:sp>
          <p:nvSpPr>
            <p:cNvPr id="34" name="Shape 19">
              <a:extLst>
                <a:ext uri="{FF2B5EF4-FFF2-40B4-BE49-F238E27FC236}">
                  <a16:creationId xmlns:a16="http://schemas.microsoft.com/office/drawing/2014/main" id="{1D40CF3D-D538-E1C9-CADF-CEDCD0AF9891}"/>
                </a:ext>
              </a:extLst>
            </p:cNvPr>
            <p:cNvSpPr/>
            <p:nvPr/>
          </p:nvSpPr>
          <p:spPr>
            <a:xfrm>
              <a:off x="274320" y="2971800"/>
              <a:ext cx="8595360" cy="27432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prstDash val="solid"/>
            </a:ln>
          </p:spPr>
        </p:sp>
        <p:sp>
          <p:nvSpPr>
            <p:cNvPr id="35" name="Text 20">
              <a:extLst>
                <a:ext uri="{FF2B5EF4-FFF2-40B4-BE49-F238E27FC236}">
                  <a16:creationId xmlns:a16="http://schemas.microsoft.com/office/drawing/2014/main" id="{65EA2D24-B7C7-98E4-B08C-1FD50D428989}"/>
                </a:ext>
              </a:extLst>
            </p:cNvPr>
            <p:cNvSpPr/>
            <p:nvPr/>
          </p:nvSpPr>
          <p:spPr>
            <a:xfrm>
              <a:off x="274320" y="2971800"/>
              <a:ext cx="85953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4-STAGE STYLIZATION PIPELINE</a:t>
              </a:r>
              <a:endParaRPr lang="en-US" sz="1100" dirty="0"/>
            </a:p>
          </p:txBody>
        </p:sp>
        <p:sp>
          <p:nvSpPr>
            <p:cNvPr id="37" name="Text 22">
              <a:extLst>
                <a:ext uri="{FF2B5EF4-FFF2-40B4-BE49-F238E27FC236}">
                  <a16:creationId xmlns:a16="http://schemas.microsoft.com/office/drawing/2014/main" id="{26A68769-47EF-231D-6758-C38632EBFC1E}"/>
                </a:ext>
              </a:extLst>
            </p:cNvPr>
            <p:cNvSpPr/>
            <p:nvPr/>
          </p:nvSpPr>
          <p:spPr>
            <a:xfrm>
              <a:off x="320040" y="333756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39" name="Shape 24">
              <a:extLst>
                <a:ext uri="{FF2B5EF4-FFF2-40B4-BE49-F238E27FC236}">
                  <a16:creationId xmlns:a16="http://schemas.microsoft.com/office/drawing/2014/main" id="{CEB1702B-0A3A-3F49-C1E3-9F311C91F7F5}"/>
                </a:ext>
              </a:extLst>
            </p:cNvPr>
            <p:cNvSpPr/>
            <p:nvPr/>
          </p:nvSpPr>
          <p:spPr>
            <a:xfrm>
              <a:off x="2331720" y="3931920"/>
              <a:ext cx="137160" cy="228600"/>
            </a:xfrm>
            <a:prstGeom prst="rect">
              <a:avLst/>
            </a:prstGeom>
            <a:noFill/>
            <a:ln/>
          </p:spPr>
        </p:sp>
        <p:sp>
          <p:nvSpPr>
            <p:cNvPr id="41" name="Text 26">
              <a:extLst>
                <a:ext uri="{FF2B5EF4-FFF2-40B4-BE49-F238E27FC236}">
                  <a16:creationId xmlns:a16="http://schemas.microsoft.com/office/drawing/2014/main" id="{58025457-7F81-D855-F6B9-69301B5EBA40}"/>
                </a:ext>
              </a:extLst>
            </p:cNvPr>
            <p:cNvSpPr/>
            <p:nvPr/>
          </p:nvSpPr>
          <p:spPr>
            <a:xfrm>
              <a:off x="2468880" y="333756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43" name="Shape 28">
              <a:extLst>
                <a:ext uri="{FF2B5EF4-FFF2-40B4-BE49-F238E27FC236}">
                  <a16:creationId xmlns:a16="http://schemas.microsoft.com/office/drawing/2014/main" id="{B42F1C93-FABD-D526-8ACB-67713319E359}"/>
                </a:ext>
              </a:extLst>
            </p:cNvPr>
            <p:cNvSpPr/>
            <p:nvPr/>
          </p:nvSpPr>
          <p:spPr>
            <a:xfrm>
              <a:off x="4480560" y="3931920"/>
              <a:ext cx="137160" cy="228600"/>
            </a:xfrm>
            <a:prstGeom prst="rect">
              <a:avLst/>
            </a:prstGeom>
            <a:noFill/>
            <a:ln/>
          </p:spPr>
        </p:sp>
        <p:sp>
          <p:nvSpPr>
            <p:cNvPr id="45" name="Text 30">
              <a:extLst>
                <a:ext uri="{FF2B5EF4-FFF2-40B4-BE49-F238E27FC236}">
                  <a16:creationId xmlns:a16="http://schemas.microsoft.com/office/drawing/2014/main" id="{2B9BD0E6-E2BD-9F62-0CC2-79B878F729CB}"/>
                </a:ext>
              </a:extLst>
            </p:cNvPr>
            <p:cNvSpPr/>
            <p:nvPr/>
          </p:nvSpPr>
          <p:spPr>
            <a:xfrm>
              <a:off x="4617720" y="333756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47" name="Shape 32">
              <a:extLst>
                <a:ext uri="{FF2B5EF4-FFF2-40B4-BE49-F238E27FC236}">
                  <a16:creationId xmlns:a16="http://schemas.microsoft.com/office/drawing/2014/main" id="{8C5F20A4-90DE-C77F-AA99-F102925BE252}"/>
                </a:ext>
              </a:extLst>
            </p:cNvPr>
            <p:cNvSpPr/>
            <p:nvPr/>
          </p:nvSpPr>
          <p:spPr>
            <a:xfrm>
              <a:off x="6629400" y="3931920"/>
              <a:ext cx="137160" cy="228600"/>
            </a:xfrm>
            <a:prstGeom prst="rect">
              <a:avLst/>
            </a:prstGeom>
            <a:noFill/>
            <a:ln/>
          </p:spPr>
        </p:sp>
        <p:sp>
          <p:nvSpPr>
            <p:cNvPr id="49" name="Text 34">
              <a:extLst>
                <a:ext uri="{FF2B5EF4-FFF2-40B4-BE49-F238E27FC236}">
                  <a16:creationId xmlns:a16="http://schemas.microsoft.com/office/drawing/2014/main" id="{3CD707CC-8275-F668-FE58-B4825D40BDC5}"/>
                </a:ext>
              </a:extLst>
            </p:cNvPr>
            <p:cNvSpPr/>
            <p:nvPr/>
          </p:nvSpPr>
          <p:spPr>
            <a:xfrm>
              <a:off x="6766560" y="3337560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</a:t>
              </a:r>
              <a:endParaRPr lang="en-US" sz="2000" dirty="0"/>
            </a:p>
          </p:txBody>
        </p:sp>
      </p:grpSp>
      <p:sp>
        <p:nvSpPr>
          <p:cNvPr id="50" name="Text 35">
            <a:extLst>
              <a:ext uri="{FF2B5EF4-FFF2-40B4-BE49-F238E27FC236}">
                <a16:creationId xmlns:a16="http://schemas.microsoft.com/office/drawing/2014/main" id="{0AACDAB6-A603-30DA-6B09-F40FA43358C7}"/>
              </a:ext>
            </a:extLst>
          </p:cNvPr>
          <p:cNvSpPr/>
          <p:nvPr/>
        </p:nvSpPr>
        <p:spPr>
          <a:xfrm>
            <a:off x="6766560" y="373075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013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BE3242-B2A4-E43E-1F47-70E1356FD79E}"/>
              </a:ext>
            </a:extLst>
          </p:cNvPr>
          <p:cNvGrpSpPr/>
          <p:nvPr/>
        </p:nvGrpSpPr>
        <p:grpSpPr>
          <a:xfrm>
            <a:off x="0" y="0"/>
            <a:ext cx="9144000" cy="5052060"/>
            <a:chOff x="0" y="0"/>
            <a:chExt cx="9144000" cy="50520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A14275C-D662-74CF-2DAE-0CC7BD04EB12}"/>
                </a:ext>
              </a:extLst>
            </p:cNvPr>
            <p:cNvGrpSpPr/>
            <p:nvPr/>
          </p:nvGrpSpPr>
          <p:grpSpPr>
            <a:xfrm>
              <a:off x="0" y="0"/>
              <a:ext cx="9144000" cy="1005840"/>
              <a:chOff x="0" y="0"/>
              <a:chExt cx="9144000" cy="1005840"/>
            </a:xfrm>
          </p:grpSpPr>
          <p:sp>
            <p:nvSpPr>
              <p:cNvPr id="5" name="Shape 0">
                <a:extLst>
                  <a:ext uri="{FF2B5EF4-FFF2-40B4-BE49-F238E27FC236}">
                    <a16:creationId xmlns:a16="http://schemas.microsoft.com/office/drawing/2014/main" id="{1D96A7B2-D1C2-BE11-293B-7B08FF9A441E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1005840"/>
              </a:xfrm>
              <a:prstGeom prst="rect">
                <a:avLst/>
              </a:prstGeom>
              <a:solidFill>
                <a:srgbClr val="AE1D49"/>
              </a:solidFill>
              <a:ln w="12700">
                <a:solidFill>
                  <a:srgbClr val="AE1D49"/>
                </a:solidFill>
                <a:prstDash val="solid"/>
              </a:ln>
            </p:spPr>
          </p:sp>
          <p:pic>
            <p:nvPicPr>
              <p:cNvPr id="6" name="Image 0" descr="preencoded.png">
                <a:extLst>
                  <a:ext uri="{FF2B5EF4-FFF2-40B4-BE49-F238E27FC236}">
                    <a16:creationId xmlns:a16="http://schemas.microsoft.com/office/drawing/2014/main" id="{2BB0DF71-BC6E-3CB3-ACD6-6C4AFDF4B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592" y="73152"/>
                <a:ext cx="822960" cy="822960"/>
              </a:xfrm>
              <a:prstGeom prst="rect">
                <a:avLst/>
              </a:prstGeom>
            </p:spPr>
          </p:pic>
          <p:sp>
            <p:nvSpPr>
              <p:cNvPr id="7" name="Text 1">
                <a:extLst>
                  <a:ext uri="{FF2B5EF4-FFF2-40B4-BE49-F238E27FC236}">
                    <a16:creationId xmlns:a16="http://schemas.microsoft.com/office/drawing/2014/main" id="{87665A49-04D7-3C59-B641-88D2A4703076}"/>
                  </a:ext>
                </a:extLst>
              </p:cNvPr>
              <p:cNvSpPr/>
              <p:nvPr/>
            </p:nvSpPr>
            <p:spPr>
              <a:xfrm>
                <a:off x="1143000" y="18288"/>
                <a:ext cx="7772400" cy="9692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2000" dirty="0"/>
              </a:p>
            </p:txBody>
          </p:sp>
        </p:grpSp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40E5831E-7D8C-BBD3-5803-7DA41674D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9440" y="4640580"/>
              <a:ext cx="2011680" cy="411480"/>
            </a:xfrm>
            <a:prstGeom prst="rect">
              <a:avLst/>
            </a:prstGeom>
          </p:spPr>
        </p:pic>
      </p:grpSp>
      <p:sp>
        <p:nvSpPr>
          <p:cNvPr id="9" name="Shape 0">
            <a:extLst>
              <a:ext uri="{FF2B5EF4-FFF2-40B4-BE49-F238E27FC236}">
                <a16:creationId xmlns:a16="http://schemas.microsoft.com/office/drawing/2014/main" id="{1D0BC105-46BC-B4AA-4025-EACA7367ED0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noFill/>
          <a:ln/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E0FA2E8-32D1-4034-0972-A0760767EF82}"/>
              </a:ext>
            </a:extLst>
          </p:cNvPr>
          <p:cNvSpPr/>
          <p:nvPr/>
        </p:nvSpPr>
        <p:spPr>
          <a:xfrm>
            <a:off x="1143000" y="914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SYSTEM ARCHITECTURE</a:t>
            </a:r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0DE12167-F2EE-2937-3859-B5A90066A5E5}"/>
              </a:ext>
            </a:extLst>
          </p:cNvPr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noFill/>
          <a:ln w="12700">
            <a:noFill/>
            <a:prstDash val="solid"/>
          </a:ln>
        </p:spPr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7E270F2-D3E2-7434-BFE1-5D46A8D9CACB}"/>
              </a:ext>
            </a:extLst>
          </p:cNvPr>
          <p:cNvGrpSpPr/>
          <p:nvPr/>
        </p:nvGrpSpPr>
        <p:grpSpPr>
          <a:xfrm>
            <a:off x="171123" y="1139408"/>
            <a:ext cx="8823960" cy="2926080"/>
            <a:chOff x="182880" y="960120"/>
            <a:chExt cx="8823960" cy="2926080"/>
          </a:xfrm>
        </p:grpSpPr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D7C78591-553F-6C97-3F18-201D55DD3064}"/>
                </a:ext>
              </a:extLst>
            </p:cNvPr>
            <p:cNvSpPr/>
            <p:nvPr/>
          </p:nvSpPr>
          <p:spPr>
            <a:xfrm>
              <a:off x="182880" y="960120"/>
              <a:ext cx="2011680" cy="1188720"/>
            </a:xfrm>
            <a:prstGeom prst="rect">
              <a:avLst/>
            </a:prstGeom>
            <a:solidFill>
              <a:srgbClr val="0077B6"/>
            </a:solidFill>
            <a:ln/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AD7A22E8-1A9A-2075-C55E-1E587E7E3B93}"/>
                </a:ext>
              </a:extLst>
            </p:cNvPr>
            <p:cNvSpPr/>
            <p:nvPr/>
          </p:nvSpPr>
          <p:spPr>
            <a:xfrm>
              <a:off x="182880" y="1024128"/>
              <a:ext cx="2011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/>
                <a:t>Camera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/>
                <a:t>(Live </a:t>
              </a:r>
              <a:r>
                <a:rPr lang="en-US"/>
                <a:t>Feed)</a:t>
              </a:r>
              <a:endParaRPr lang="en-US" dirty="0"/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6E56AA9A-197A-CEA1-7978-69ECC8BC0D62}"/>
                </a:ext>
              </a:extLst>
            </p:cNvPr>
            <p:cNvSpPr/>
            <p:nvPr/>
          </p:nvSpPr>
          <p:spPr>
            <a:xfrm>
              <a:off x="2194560" y="1463040"/>
              <a:ext cx="228600" cy="182880"/>
            </a:xfrm>
            <a:prstGeom prst="rect">
              <a:avLst/>
            </a:prstGeom>
            <a:solidFill>
              <a:srgbClr val="90B4CE"/>
            </a:solidFill>
            <a:ln/>
          </p:spPr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F6487C8A-720D-02C3-8504-D5DE8FD96376}"/>
                </a:ext>
              </a:extLst>
            </p:cNvPr>
            <p:cNvSpPr/>
            <p:nvPr/>
          </p:nvSpPr>
          <p:spPr>
            <a:xfrm>
              <a:off x="2423160" y="960120"/>
              <a:ext cx="2011680" cy="1188720"/>
            </a:xfrm>
            <a:prstGeom prst="rect">
              <a:avLst/>
            </a:prstGeom>
            <a:solidFill>
              <a:srgbClr val="6D28D9"/>
            </a:solidFill>
            <a:ln/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C68EBFDE-95A3-4D45-C1FB-484395D65B51}"/>
                </a:ext>
              </a:extLst>
            </p:cNvPr>
            <p:cNvSpPr/>
            <p:nvPr/>
          </p:nvSpPr>
          <p:spPr>
            <a:xfrm>
              <a:off x="2423160" y="1024128"/>
              <a:ext cx="2011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/>
                <a:t>YOLOv8</a:t>
              </a:r>
              <a:endParaRPr lang="en-US" dirty="0"/>
            </a:p>
            <a:p>
              <a:pPr marL="0" indent="0" algn="ctr">
                <a:buNone/>
              </a:pPr>
              <a:r>
                <a:rPr lang="en-US"/>
                <a:t>Detection</a:t>
              </a:r>
              <a:endParaRPr lang="en-US" dirty="0"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58258404-F9A8-9293-07BA-F5F3A9E800B0}"/>
                </a:ext>
              </a:extLst>
            </p:cNvPr>
            <p:cNvSpPr/>
            <p:nvPr/>
          </p:nvSpPr>
          <p:spPr>
            <a:xfrm>
              <a:off x="4434840" y="1463040"/>
              <a:ext cx="228600" cy="182880"/>
            </a:xfrm>
            <a:prstGeom prst="rect">
              <a:avLst/>
            </a:prstGeom>
            <a:solidFill>
              <a:srgbClr val="90B4CE"/>
            </a:solidFill>
            <a:ln/>
          </p:spPr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09491EBC-B8DD-16A7-0DDB-2478AF18053E}"/>
                </a:ext>
              </a:extLst>
            </p:cNvPr>
            <p:cNvSpPr/>
            <p:nvPr/>
          </p:nvSpPr>
          <p:spPr>
            <a:xfrm>
              <a:off x="4663440" y="960120"/>
              <a:ext cx="2011680" cy="1188720"/>
            </a:xfrm>
            <a:prstGeom prst="rect">
              <a:avLst/>
            </a:prstGeom>
            <a:solidFill>
              <a:srgbClr val="E05A2B"/>
            </a:solidFill>
            <a:ln/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B8A573FF-6A84-A35C-639D-7565F17F7A10}"/>
                </a:ext>
              </a:extLst>
            </p:cNvPr>
            <p:cNvSpPr/>
            <p:nvPr/>
          </p:nvSpPr>
          <p:spPr>
            <a:xfrm>
              <a:off x="4663440" y="1024128"/>
              <a:ext cx="2011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/>
                <a:t>Weighted</a:t>
              </a:r>
              <a:endParaRPr lang="en-US" dirty="0"/>
            </a:p>
            <a:p>
              <a:pPr marL="0" indent="0" algn="ctr">
                <a:buNone/>
              </a:pPr>
              <a:r>
                <a:rPr lang="en-US"/>
                <a:t>Scoring</a:t>
              </a:r>
              <a:endParaRPr lang="en-US" dirty="0"/>
            </a:p>
            <a:p>
              <a:pPr marL="0" indent="0" algn="ctr">
                <a:buNone/>
              </a:pPr>
              <a:r>
                <a:rPr lang="en-US"/>
                <a:t>Function</a:t>
              </a:r>
              <a:endParaRPr lang="en-US" dirty="0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9FB6ABCA-7ED9-29FD-1FE2-B0AD2DF67AF5}"/>
                </a:ext>
              </a:extLst>
            </p:cNvPr>
            <p:cNvSpPr/>
            <p:nvPr/>
          </p:nvSpPr>
          <p:spPr>
            <a:xfrm>
              <a:off x="6675120" y="1463040"/>
              <a:ext cx="228600" cy="182880"/>
            </a:xfrm>
            <a:prstGeom prst="rect">
              <a:avLst/>
            </a:prstGeom>
            <a:solidFill>
              <a:srgbClr val="90B4CE"/>
            </a:solidFill>
            <a:ln/>
          </p:spPr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62B00835-03FA-937C-CE6E-892246ECA70A}"/>
                </a:ext>
              </a:extLst>
            </p:cNvPr>
            <p:cNvSpPr/>
            <p:nvPr/>
          </p:nvSpPr>
          <p:spPr>
            <a:xfrm>
              <a:off x="6903720" y="960120"/>
              <a:ext cx="2011680" cy="1188720"/>
            </a:xfrm>
            <a:prstGeom prst="rect">
              <a:avLst/>
            </a:prstGeom>
            <a:solidFill>
              <a:srgbClr val="0077B6"/>
            </a:solidFill>
            <a:ln/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DBB15DA8-D9A3-1D47-BA3E-B01599915A99}"/>
                </a:ext>
              </a:extLst>
            </p:cNvPr>
            <p:cNvSpPr/>
            <p:nvPr/>
          </p:nvSpPr>
          <p:spPr>
            <a:xfrm>
              <a:off x="6903720" y="1024128"/>
              <a:ext cx="2011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/>
                <a:t>Toeplitz</a:t>
              </a:r>
              <a:endParaRPr lang="en-US" dirty="0"/>
            </a:p>
            <a:p>
              <a:pPr marL="0" indent="0" algn="ctr">
                <a:buNone/>
              </a:pPr>
              <a:r>
                <a:rPr lang="en-US"/>
                <a:t>Convolution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/>
                <a:t>(LSI </a:t>
              </a:r>
              <a:r>
                <a:rPr lang="en-US"/>
                <a:t>Filter)</a:t>
              </a:r>
              <a:endParaRPr lang="en-US" dirty="0"/>
            </a:p>
          </p:txBody>
        </p:sp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12F18A15-C4D8-E5CE-B99F-BC52FC2A75F8}"/>
                </a:ext>
              </a:extLst>
            </p:cNvPr>
            <p:cNvSpPr/>
            <p:nvPr/>
          </p:nvSpPr>
          <p:spPr>
            <a:xfrm>
              <a:off x="4480560" y="2176272"/>
              <a:ext cx="182880" cy="320040"/>
            </a:xfrm>
            <a:prstGeom prst="rect">
              <a:avLst/>
            </a:prstGeom>
            <a:solidFill>
              <a:srgbClr val="90B4CE"/>
            </a:solidFill>
            <a:ln/>
          </p:spPr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99427BC8-09E4-CC14-0102-120875F338E1}"/>
                </a:ext>
              </a:extLst>
            </p:cNvPr>
            <p:cNvSpPr/>
            <p:nvPr/>
          </p:nvSpPr>
          <p:spPr>
            <a:xfrm>
              <a:off x="4297680" y="2468880"/>
              <a:ext cx="548640" cy="164592"/>
            </a:xfrm>
            <a:prstGeom prst="rect">
              <a:avLst/>
            </a:prstGeom>
            <a:solidFill>
              <a:srgbClr val="90B4CE"/>
            </a:solidFill>
            <a:ln/>
          </p:spPr>
        </p:sp>
        <p:sp>
          <p:nvSpPr>
            <p:cNvPr id="24" name="Shape 15">
              <a:extLst>
                <a:ext uri="{FF2B5EF4-FFF2-40B4-BE49-F238E27FC236}">
                  <a16:creationId xmlns:a16="http://schemas.microsoft.com/office/drawing/2014/main" id="{EFD07AEB-D2C9-AAFD-AD6F-EBD4EC826D1F}"/>
                </a:ext>
              </a:extLst>
            </p:cNvPr>
            <p:cNvSpPr/>
            <p:nvPr/>
          </p:nvSpPr>
          <p:spPr>
            <a:xfrm>
              <a:off x="6995160" y="2697480"/>
              <a:ext cx="2011680" cy="1188720"/>
            </a:xfrm>
            <a:prstGeom prst="rect">
              <a:avLst/>
            </a:prstGeom>
            <a:solidFill>
              <a:srgbClr val="06D6A0"/>
            </a:solidFill>
            <a:ln/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AABA535D-C6A2-7EC6-78CD-AC2B71228606}"/>
                </a:ext>
              </a:extLst>
            </p:cNvPr>
            <p:cNvSpPr/>
            <p:nvPr/>
          </p:nvSpPr>
          <p:spPr>
            <a:xfrm>
              <a:off x="6995160" y="2761488"/>
              <a:ext cx="2011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/>
                <a:t>Canny Edge</a:t>
              </a:r>
              <a:endParaRPr lang="en-US" dirty="0"/>
            </a:p>
            <a:p>
              <a:pPr marL="0" indent="0" algn="ctr">
                <a:buNone/>
              </a:pPr>
              <a:r>
                <a:rPr lang="en-US"/>
                <a:t>Detection</a:t>
              </a:r>
              <a:endParaRPr lang="en-US" dirty="0"/>
            </a:p>
          </p:txBody>
        </p:sp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17695A7C-C3EF-2F4D-FBBD-05B990EA8C72}"/>
                </a:ext>
              </a:extLst>
            </p:cNvPr>
            <p:cNvSpPr/>
            <p:nvPr/>
          </p:nvSpPr>
          <p:spPr>
            <a:xfrm>
              <a:off x="6766560" y="3218688"/>
              <a:ext cx="228600" cy="182880"/>
            </a:xfrm>
            <a:prstGeom prst="rect">
              <a:avLst/>
            </a:prstGeom>
            <a:solidFill>
              <a:srgbClr val="90B4CE"/>
            </a:solidFill>
            <a:ln/>
          </p:spPr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1DE21BF1-FB00-BAE8-A8FF-98D0BDDC848B}"/>
                </a:ext>
              </a:extLst>
            </p:cNvPr>
            <p:cNvSpPr/>
            <p:nvPr/>
          </p:nvSpPr>
          <p:spPr>
            <a:xfrm>
              <a:off x="4754880" y="2697480"/>
              <a:ext cx="2011680" cy="1188720"/>
            </a:xfrm>
            <a:prstGeom prst="rect">
              <a:avLst/>
            </a:prstGeom>
            <a:solidFill>
              <a:srgbClr val="FFB703"/>
            </a:solidFill>
            <a:ln/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80D10A6E-9ED1-5FD9-3DD1-15FFE2B1A941}"/>
                </a:ext>
              </a:extLst>
            </p:cNvPr>
            <p:cNvSpPr/>
            <p:nvPr/>
          </p:nvSpPr>
          <p:spPr>
            <a:xfrm>
              <a:off x="4754880" y="2761488"/>
              <a:ext cx="2011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/>
                <a:t>K-Means</a:t>
              </a:r>
              <a:endParaRPr lang="en-US" dirty="0"/>
            </a:p>
            <a:p>
              <a:pPr marL="0" indent="0" algn="ctr">
                <a:buNone/>
              </a:pPr>
              <a:r>
                <a:rPr lang="en-US"/>
                <a:t>Quantization</a:t>
              </a:r>
              <a:endParaRPr lang="en-US" dirty="0"/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A138D251-DA3E-2DE7-36FA-8C991C9C15BF}"/>
                </a:ext>
              </a:extLst>
            </p:cNvPr>
            <p:cNvSpPr/>
            <p:nvPr/>
          </p:nvSpPr>
          <p:spPr>
            <a:xfrm>
              <a:off x="4526280" y="3218688"/>
              <a:ext cx="228600" cy="182880"/>
            </a:xfrm>
            <a:prstGeom prst="rect">
              <a:avLst/>
            </a:prstGeom>
            <a:solidFill>
              <a:srgbClr val="90B4CE"/>
            </a:solidFill>
            <a:ln/>
          </p:spPr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399372B0-5A47-44E8-DDAF-3FDE56554781}"/>
                </a:ext>
              </a:extLst>
            </p:cNvPr>
            <p:cNvSpPr/>
            <p:nvPr/>
          </p:nvSpPr>
          <p:spPr>
            <a:xfrm>
              <a:off x="2514600" y="2697480"/>
              <a:ext cx="2011680" cy="1188720"/>
            </a:xfrm>
            <a:prstGeom prst="rect">
              <a:avLst/>
            </a:prstGeom>
            <a:solidFill>
              <a:srgbClr val="06D6A0"/>
            </a:solidFill>
            <a:ln/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09EA347B-9F81-58BB-4F2D-2C2FA29D8731}"/>
                </a:ext>
              </a:extLst>
            </p:cNvPr>
            <p:cNvSpPr/>
            <p:nvPr/>
          </p:nvSpPr>
          <p:spPr>
            <a:xfrm>
              <a:off x="2514600" y="2761488"/>
              <a:ext cx="201168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/>
                <a:t>Cartoon</a:t>
              </a:r>
              <a:endParaRPr lang="en-US" dirty="0"/>
            </a:p>
            <a:p>
              <a:pPr marL="0" indent="0" algn="ctr">
                <a:buNone/>
              </a:pPr>
              <a:r>
                <a:rPr lang="en-US"/>
                <a:t>Output</a:t>
              </a:r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3975FF9-F5AC-7974-C8CD-5AB5CA5FFC87}"/>
              </a:ext>
            </a:extLst>
          </p:cNvPr>
          <p:cNvGrpSpPr/>
          <p:nvPr/>
        </p:nvGrpSpPr>
        <p:grpSpPr>
          <a:xfrm>
            <a:off x="320040" y="3943350"/>
            <a:ext cx="8229600" cy="784098"/>
            <a:chOff x="457200" y="4206240"/>
            <a:chExt cx="8229600" cy="784098"/>
          </a:xfrm>
        </p:grpSpPr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07450902-006E-6D3D-06E0-65986837BAB6}"/>
                </a:ext>
              </a:extLst>
            </p:cNvPr>
            <p:cNvSpPr/>
            <p:nvPr/>
          </p:nvSpPr>
          <p:spPr>
            <a:xfrm>
              <a:off x="457200" y="4206240"/>
              <a:ext cx="2495006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 err="1"/>
                <a:t>QuantitativeMetrics</a:t>
              </a:r>
              <a:r>
                <a:rPr lang="en-US" dirty="0"/>
                <a:t>:</a:t>
              </a:r>
            </a:p>
          </p:txBody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6E40F0B5-6EE5-7A86-0ADE-4ADB7D3159D2}"/>
                </a:ext>
              </a:extLst>
            </p:cNvPr>
            <p:cNvSpPr/>
            <p:nvPr/>
          </p:nvSpPr>
          <p:spPr>
            <a:xfrm>
              <a:off x="457200" y="469773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/>
                <a:t>Color Simplification Ratio (CSR)  |  Edge Preservation Ratio (Er)  |  MSE Structural Score (Sc)  |  Composite Score S = 0.4·CSR + 0.3·Er + 0.3·Sc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132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89D5C5-DB14-AC64-D824-E91A97392922}"/>
              </a:ext>
            </a:extLst>
          </p:cNvPr>
          <p:cNvGrpSpPr/>
          <p:nvPr/>
        </p:nvGrpSpPr>
        <p:grpSpPr>
          <a:xfrm>
            <a:off x="0" y="0"/>
            <a:ext cx="9144000" cy="5052060"/>
            <a:chOff x="0" y="0"/>
            <a:chExt cx="9144000" cy="50520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1DBF24B-1798-2E9C-B615-F05F6567ECD4}"/>
                </a:ext>
              </a:extLst>
            </p:cNvPr>
            <p:cNvGrpSpPr/>
            <p:nvPr/>
          </p:nvGrpSpPr>
          <p:grpSpPr>
            <a:xfrm>
              <a:off x="0" y="0"/>
              <a:ext cx="9144000" cy="1005840"/>
              <a:chOff x="0" y="0"/>
              <a:chExt cx="9144000" cy="1005840"/>
            </a:xfrm>
          </p:grpSpPr>
          <p:sp>
            <p:nvSpPr>
              <p:cNvPr id="5" name="Shape 0">
                <a:extLst>
                  <a:ext uri="{FF2B5EF4-FFF2-40B4-BE49-F238E27FC236}">
                    <a16:creationId xmlns:a16="http://schemas.microsoft.com/office/drawing/2014/main" id="{244C36FA-2AA1-0ED5-27AA-354CCBFE0A04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1005840"/>
              </a:xfrm>
              <a:prstGeom prst="rect">
                <a:avLst/>
              </a:prstGeom>
              <a:solidFill>
                <a:srgbClr val="AE1D49"/>
              </a:solidFill>
              <a:ln w="12700">
                <a:solidFill>
                  <a:srgbClr val="AE1D49"/>
                </a:solidFill>
                <a:prstDash val="solid"/>
              </a:ln>
            </p:spPr>
          </p:sp>
          <p:pic>
            <p:nvPicPr>
              <p:cNvPr id="6" name="Image 0" descr="preencoded.png">
                <a:extLst>
                  <a:ext uri="{FF2B5EF4-FFF2-40B4-BE49-F238E27FC236}">
                    <a16:creationId xmlns:a16="http://schemas.microsoft.com/office/drawing/2014/main" id="{768980EC-BAB8-32EE-E3B0-5E8EF00D7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592" y="73152"/>
                <a:ext cx="822960" cy="822960"/>
              </a:xfrm>
              <a:prstGeom prst="rect">
                <a:avLst/>
              </a:prstGeom>
            </p:spPr>
          </p:pic>
          <p:sp>
            <p:nvSpPr>
              <p:cNvPr id="7" name="Text 1">
                <a:extLst>
                  <a:ext uri="{FF2B5EF4-FFF2-40B4-BE49-F238E27FC236}">
                    <a16:creationId xmlns:a16="http://schemas.microsoft.com/office/drawing/2014/main" id="{7AA009A8-3348-CA5A-004C-9598B61C8B0C}"/>
                  </a:ext>
                </a:extLst>
              </p:cNvPr>
              <p:cNvSpPr/>
              <p:nvPr/>
            </p:nvSpPr>
            <p:spPr>
              <a:xfrm>
                <a:off x="1143000" y="18288"/>
                <a:ext cx="7772400" cy="9692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2000" dirty="0"/>
              </a:p>
            </p:txBody>
          </p:sp>
        </p:grpSp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45FD999C-8067-C65F-03B9-33989604F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9440" y="4640580"/>
              <a:ext cx="2011680" cy="411480"/>
            </a:xfrm>
            <a:prstGeom prst="rect">
              <a:avLst/>
            </a:prstGeom>
          </p:spPr>
        </p:pic>
      </p:grpSp>
      <p:sp>
        <p:nvSpPr>
          <p:cNvPr id="9" name="Shape 0">
            <a:extLst>
              <a:ext uri="{FF2B5EF4-FFF2-40B4-BE49-F238E27FC236}">
                <a16:creationId xmlns:a16="http://schemas.microsoft.com/office/drawing/2014/main" id="{B28928B0-CE5D-23E3-6489-9FBF5F6153BD}"/>
              </a:ext>
            </a:extLst>
          </p:cNvPr>
          <p:cNvSpPr/>
          <p:nvPr/>
        </p:nvSpPr>
        <p:spPr>
          <a:xfrm>
            <a:off x="0" y="176348"/>
            <a:ext cx="9144000" cy="822960"/>
          </a:xfrm>
          <a:prstGeom prst="rect">
            <a:avLst/>
          </a:prstGeom>
          <a:noFill/>
          <a:ln/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7CC6136-3BA9-B84B-0D1A-006A36C729EC}"/>
              </a:ext>
            </a:extLst>
          </p:cNvPr>
          <p:cNvSpPr/>
          <p:nvPr/>
        </p:nvSpPr>
        <p:spPr>
          <a:xfrm>
            <a:off x="1143000" y="16197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</a:t>
            </a:r>
            <a:r>
              <a:rPr lang="en-US" sz="26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&amp; FINDINGS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00C622B4-9B9F-8151-18A8-1545B486C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36468"/>
            <a:ext cx="5212080" cy="2423160"/>
          </a:xfrm>
          <a:prstGeom prst="rect">
            <a:avLst/>
          </a:prstGeom>
          <a:noFill/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C25CC3B-0410-02EE-7F33-B195C270EB89}"/>
              </a:ext>
            </a:extLst>
          </p:cNvPr>
          <p:cNvSpPr/>
          <p:nvPr/>
        </p:nvSpPr>
        <p:spPr>
          <a:xfrm>
            <a:off x="274320" y="36693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 1. Left: Original Input   |   Right: Cartoonized Output</a:t>
            </a:r>
            <a:endParaRPr lang="en-US" sz="11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88A2BDF-DDDF-1EB4-6C66-5D562F6DCD7F}"/>
              </a:ext>
            </a:extLst>
          </p:cNvPr>
          <p:cNvSpPr/>
          <p:nvPr/>
        </p:nvSpPr>
        <p:spPr>
          <a:xfrm>
            <a:off x="5943600" y="11730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81.39%</a:t>
            </a:r>
            <a:endParaRPr lang="en-US" sz="26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C9BC3E6-0B55-E18F-2C26-26DAC205F3FA}"/>
              </a:ext>
            </a:extLst>
          </p:cNvPr>
          <p:cNvSpPr/>
          <p:nvPr/>
        </p:nvSpPr>
        <p:spPr>
          <a:xfrm>
            <a:off x="5943600" y="16119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Cartoonification Accuracy</a:t>
            </a:r>
            <a:endParaRPr lang="en-US" sz="1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274B83C-1C05-283D-C647-1D3E4D017459}"/>
              </a:ext>
            </a:extLst>
          </p:cNvPr>
          <p:cNvSpPr/>
          <p:nvPr/>
        </p:nvSpPr>
        <p:spPr>
          <a:xfrm>
            <a:off x="5943600" y="213316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Colors</a:t>
            </a:r>
            <a:endParaRPr lang="en-US" sz="2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7D80BAC7-BABE-3B12-EDFB-162A19F99659}"/>
              </a:ext>
            </a:extLst>
          </p:cNvPr>
          <p:cNvSpPr/>
          <p:nvPr/>
        </p:nvSpPr>
        <p:spPr>
          <a:xfrm>
            <a:off x="5943600" y="25720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K-Means Colour Clusters</a:t>
            </a:r>
            <a:endParaRPr lang="en-US" sz="12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036EFF24-8F1B-E074-F2CA-D3673776B9F2}"/>
              </a:ext>
            </a:extLst>
          </p:cNvPr>
          <p:cNvSpPr/>
          <p:nvPr/>
        </p:nvSpPr>
        <p:spPr>
          <a:xfrm>
            <a:off x="5943600" y="309328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80–160</a:t>
            </a:r>
            <a:endParaRPr lang="en-US" sz="26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12F59184-6895-A3BC-1751-253915962588}"/>
              </a:ext>
            </a:extLst>
          </p:cNvPr>
          <p:cNvSpPr/>
          <p:nvPr/>
        </p:nvSpPr>
        <p:spPr>
          <a:xfrm>
            <a:off x="5943600" y="35321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Threshold</a:t>
            </a:r>
            <a:endParaRPr lang="en-US" sz="12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3BD9B588-5DD3-2ECA-BFCA-89F05F6BFE6A}"/>
              </a:ext>
            </a:extLst>
          </p:cNvPr>
          <p:cNvSpPr/>
          <p:nvPr/>
        </p:nvSpPr>
        <p:spPr>
          <a:xfrm>
            <a:off x="274320" y="4016828"/>
            <a:ext cx="8595360" cy="1005840"/>
          </a:xfrm>
          <a:prstGeom prst="rect">
            <a:avLst/>
          </a:prstGeom>
          <a:noFill/>
          <a:ln/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E65432D-D350-5C9F-9355-5E6B4D021398}"/>
              </a:ext>
            </a:extLst>
          </p:cNvPr>
          <p:cNvSpPr/>
          <p:nvPr/>
        </p:nvSpPr>
        <p:spPr>
          <a:xfrm>
            <a:off x="457200" y="406254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Toeplitz smoothing removed high-frequency noise without spatial distortion   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Canny edges produced bold, clean cartoon outlines   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K-Means achieved flat-shading cartoon aesthetic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8496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77D2D2-F205-A365-A4CA-850B90E2F16F}"/>
              </a:ext>
            </a:extLst>
          </p:cNvPr>
          <p:cNvGrpSpPr/>
          <p:nvPr/>
        </p:nvGrpSpPr>
        <p:grpSpPr>
          <a:xfrm>
            <a:off x="0" y="0"/>
            <a:ext cx="9144000" cy="5052060"/>
            <a:chOff x="0" y="0"/>
            <a:chExt cx="9144000" cy="50520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47F52A3-EB52-7917-76E3-A55ECAE4D8A6}"/>
                </a:ext>
              </a:extLst>
            </p:cNvPr>
            <p:cNvGrpSpPr/>
            <p:nvPr/>
          </p:nvGrpSpPr>
          <p:grpSpPr>
            <a:xfrm>
              <a:off x="0" y="0"/>
              <a:ext cx="9144000" cy="1005840"/>
              <a:chOff x="0" y="0"/>
              <a:chExt cx="9144000" cy="1005840"/>
            </a:xfrm>
          </p:grpSpPr>
          <p:sp>
            <p:nvSpPr>
              <p:cNvPr id="5" name="Shape 0">
                <a:extLst>
                  <a:ext uri="{FF2B5EF4-FFF2-40B4-BE49-F238E27FC236}">
                    <a16:creationId xmlns:a16="http://schemas.microsoft.com/office/drawing/2014/main" id="{CE8F9135-536D-F004-001C-7C89AAEAF0B8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1005840"/>
              </a:xfrm>
              <a:prstGeom prst="rect">
                <a:avLst/>
              </a:prstGeom>
              <a:solidFill>
                <a:srgbClr val="AE1D49"/>
              </a:solidFill>
              <a:ln w="12700">
                <a:solidFill>
                  <a:srgbClr val="AE1D49"/>
                </a:solidFill>
                <a:prstDash val="solid"/>
              </a:ln>
            </p:spPr>
          </p:sp>
          <p:pic>
            <p:nvPicPr>
              <p:cNvPr id="6" name="Image 0" descr="preencoded.png">
                <a:extLst>
                  <a:ext uri="{FF2B5EF4-FFF2-40B4-BE49-F238E27FC236}">
                    <a16:creationId xmlns:a16="http://schemas.microsoft.com/office/drawing/2014/main" id="{75D977F1-F0D6-F4FE-F38B-756C6DD63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592" y="73152"/>
                <a:ext cx="822960" cy="822960"/>
              </a:xfrm>
              <a:prstGeom prst="rect">
                <a:avLst/>
              </a:prstGeom>
            </p:spPr>
          </p:pic>
          <p:sp>
            <p:nvSpPr>
              <p:cNvPr id="7" name="Text 1">
                <a:extLst>
                  <a:ext uri="{FF2B5EF4-FFF2-40B4-BE49-F238E27FC236}">
                    <a16:creationId xmlns:a16="http://schemas.microsoft.com/office/drawing/2014/main" id="{432E928D-1AC3-474D-5BFF-2D1C7A258CE9}"/>
                  </a:ext>
                </a:extLst>
              </p:cNvPr>
              <p:cNvSpPr/>
              <p:nvPr/>
            </p:nvSpPr>
            <p:spPr>
              <a:xfrm>
                <a:off x="1143000" y="18288"/>
                <a:ext cx="7772400" cy="9692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en-US" sz="2000" dirty="0"/>
              </a:p>
            </p:txBody>
          </p:sp>
        </p:grpSp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D082AFD3-40D9-26C8-9E0F-6C06BA982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9440" y="4640580"/>
              <a:ext cx="2011680" cy="411480"/>
            </a:xfrm>
            <a:prstGeom prst="rect">
              <a:avLst/>
            </a:prstGeom>
          </p:spPr>
        </p:pic>
      </p:grpSp>
      <p:sp>
        <p:nvSpPr>
          <p:cNvPr id="9" name="Shape 0">
            <a:extLst>
              <a:ext uri="{FF2B5EF4-FFF2-40B4-BE49-F238E27FC236}">
                <a16:creationId xmlns:a16="http://schemas.microsoft.com/office/drawing/2014/main" id="{32D9162E-2BA3-FE8E-DC31-93F65BE7D63C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/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69B51268-CDCE-D8D4-9101-98257AFB9064}"/>
              </a:ext>
            </a:extLst>
          </p:cNvPr>
          <p:cNvSpPr/>
          <p:nvPr/>
        </p:nvSpPr>
        <p:spPr>
          <a:xfrm>
            <a:off x="4572000" y="0"/>
            <a:ext cx="73152" cy="5143500"/>
          </a:xfrm>
          <a:prstGeom prst="rect">
            <a:avLst/>
          </a:prstGeom>
          <a:noFill/>
          <a:ln/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81BE3F8-9EEB-E619-AB7B-B12C91516428}"/>
              </a:ext>
            </a:extLst>
          </p:cNvPr>
          <p:cNvSpPr/>
          <p:nvPr/>
        </p:nvSpPr>
        <p:spPr>
          <a:xfrm>
            <a:off x="987552" y="274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chemeClr val="bg1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008D228-77A5-FA41-89FF-930CBD1B75BD}"/>
              </a:ext>
            </a:extLst>
          </p:cNvPr>
          <p:cNvGrpSpPr/>
          <p:nvPr/>
        </p:nvGrpSpPr>
        <p:grpSpPr>
          <a:xfrm>
            <a:off x="365760" y="1097280"/>
            <a:ext cx="3950208" cy="3592286"/>
            <a:chOff x="365760" y="685800"/>
            <a:chExt cx="3950208" cy="384048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B993C302-E02E-8FD3-53FC-A137CF4EF49A}"/>
                </a:ext>
              </a:extLst>
            </p:cNvPr>
            <p:cNvSpPr/>
            <p:nvPr/>
          </p:nvSpPr>
          <p:spPr>
            <a:xfrm>
              <a:off x="365760" y="685800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652FC7A4-8C43-2D9A-7EC1-5C38825D7892}"/>
                </a:ext>
              </a:extLst>
            </p:cNvPr>
            <p:cNvSpPr/>
            <p:nvPr/>
          </p:nvSpPr>
          <p:spPr>
            <a:xfrm>
              <a:off x="749808" y="685800"/>
              <a:ext cx="3566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Mathematically grounded cartoonification framework — every stage has a formal definition.</a:t>
              </a:r>
              <a:endParaRPr lang="en-US" sz="1250" dirty="0"/>
            </a:p>
          </p:txBody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7E98A883-23F4-B44B-E348-FDA39E6A8B35}"/>
                </a:ext>
              </a:extLst>
            </p:cNvPr>
            <p:cNvSpPr/>
            <p:nvPr/>
          </p:nvSpPr>
          <p:spPr>
            <a:xfrm>
              <a:off x="365760" y="1691640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E6EBB377-8620-F6BE-F18D-F30C63CA60A4}"/>
                </a:ext>
              </a:extLst>
            </p:cNvPr>
            <p:cNvSpPr/>
            <p:nvPr/>
          </p:nvSpPr>
          <p:spPr>
            <a:xfrm>
              <a:off x="749808" y="1691640"/>
              <a:ext cx="3566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Toeplitz matrix form makes convolution analytically tractable and interpretable.</a:t>
              </a:r>
              <a:endParaRPr lang="en-US" sz="1250" dirty="0"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5CA493E1-AD43-332C-EB60-63153D83C00C}"/>
                </a:ext>
              </a:extLst>
            </p:cNvPr>
            <p:cNvSpPr/>
            <p:nvPr/>
          </p:nvSpPr>
          <p:spPr>
            <a:xfrm>
              <a:off x="365760" y="2697480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7F4A6CBA-BA5D-5CFA-AF88-FAB0482F3BEF}"/>
                </a:ext>
              </a:extLst>
            </p:cNvPr>
            <p:cNvSpPr/>
            <p:nvPr/>
          </p:nvSpPr>
          <p:spPr>
            <a:xfrm>
              <a:off x="749808" y="2697480"/>
              <a:ext cx="3566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Composite weighted scoring mimics robotic visual attention — selecting the most salient object.</a:t>
              </a:r>
              <a:endParaRPr lang="en-US" sz="1250" dirty="0"/>
            </a:p>
          </p:txBody>
        </p:sp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D8E72A44-D2F9-F855-89C9-5A9578240643}"/>
                </a:ext>
              </a:extLst>
            </p:cNvPr>
            <p:cNvSpPr/>
            <p:nvPr/>
          </p:nvSpPr>
          <p:spPr>
            <a:xfrm>
              <a:off x="365760" y="3703320"/>
              <a:ext cx="274320" cy="274320"/>
            </a:xfrm>
            <a:prstGeom prst="rect">
              <a:avLst/>
            </a:prstGeom>
            <a:solidFill>
              <a:schemeClr val="tx1"/>
            </a:solidFill>
            <a:ln/>
          </p:spPr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61295CDF-693A-E082-667E-49EC6CD0F42F}"/>
                </a:ext>
              </a:extLst>
            </p:cNvPr>
            <p:cNvSpPr/>
            <p:nvPr/>
          </p:nvSpPr>
          <p:spPr>
            <a:xfrm>
              <a:off x="749808" y="3703320"/>
              <a:ext cx="3566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Quantitative evaluation confirms good balance of abstraction and structural preservation.</a:t>
              </a:r>
              <a:endParaRPr lang="en-US" sz="1250" dirty="0"/>
            </a:p>
          </p:txBody>
        </p:sp>
      </p:grpSp>
      <p:sp>
        <p:nvSpPr>
          <p:cNvPr id="20" name="Text 11">
            <a:extLst>
              <a:ext uri="{FF2B5EF4-FFF2-40B4-BE49-F238E27FC236}">
                <a16:creationId xmlns:a16="http://schemas.microsoft.com/office/drawing/2014/main" id="{F4151105-4E86-6AC8-5C0E-1E98DCEE92DD}"/>
              </a:ext>
            </a:extLst>
          </p:cNvPr>
          <p:cNvSpPr/>
          <p:nvPr/>
        </p:nvSpPr>
        <p:spPr>
          <a:xfrm>
            <a:off x="4754880" y="1129471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F7A077-95F0-4B43-92E9-B5C2FD9D6EB6}"/>
              </a:ext>
            </a:extLst>
          </p:cNvPr>
          <p:cNvGrpSpPr/>
          <p:nvPr/>
        </p:nvGrpSpPr>
        <p:grpSpPr>
          <a:xfrm>
            <a:off x="4754880" y="1811026"/>
            <a:ext cx="4023360" cy="2788406"/>
            <a:chOff x="4754880" y="713232"/>
            <a:chExt cx="4023360" cy="3886200"/>
          </a:xfrm>
        </p:grpSpPr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40B69C3E-DD68-986F-4066-F101D66F4F3D}"/>
                </a:ext>
              </a:extLst>
            </p:cNvPr>
            <p:cNvSpPr/>
            <p:nvPr/>
          </p:nvSpPr>
          <p:spPr>
            <a:xfrm>
              <a:off x="4754880" y="713232"/>
              <a:ext cx="91440" cy="868680"/>
            </a:xfrm>
            <a:prstGeom prst="rect">
              <a:avLst/>
            </a:prstGeom>
            <a:noFill/>
            <a:ln/>
          </p:spPr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3094A81C-6D14-5AC3-9843-CB50FE5F991F}"/>
                </a:ext>
              </a:extLst>
            </p:cNvPr>
            <p:cNvSpPr/>
            <p:nvPr/>
          </p:nvSpPr>
          <p:spPr>
            <a:xfrm>
              <a:off x="4937760" y="758952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Embedded Deployment</a:t>
              </a:r>
              <a:endParaRPr lang="en-US" sz="1300" dirty="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38A3FAD4-9CEF-C34B-DCC5-54B08EC46E90}"/>
                </a:ext>
              </a:extLst>
            </p:cNvPr>
            <p:cNvSpPr/>
            <p:nvPr/>
          </p:nvSpPr>
          <p:spPr>
            <a:xfrm>
              <a:off x="4937760" y="109728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Port to NVIDIA Jetson series for edge robotic systems.</a:t>
              </a:r>
              <a:endParaRPr lang="en-US" sz="1150" dirty="0"/>
            </a:p>
          </p:txBody>
        </p:sp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C8BC6AB3-04A6-2455-B5DE-8249DD0436BF}"/>
                </a:ext>
              </a:extLst>
            </p:cNvPr>
            <p:cNvSpPr/>
            <p:nvPr/>
          </p:nvSpPr>
          <p:spPr>
            <a:xfrm>
              <a:off x="4754880" y="1719072"/>
              <a:ext cx="91440" cy="868680"/>
            </a:xfrm>
            <a:prstGeom prst="rect">
              <a:avLst/>
            </a:prstGeom>
            <a:noFill/>
            <a:ln/>
          </p:spPr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87606281-180A-1C9D-ACCC-08868E6A3096}"/>
                </a:ext>
              </a:extLst>
            </p:cNvPr>
            <p:cNvSpPr/>
            <p:nvPr/>
          </p:nvSpPr>
          <p:spPr>
            <a:xfrm>
              <a:off x="4937760" y="1764792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Adaptive Kernels</a:t>
              </a:r>
              <a:endParaRPr lang="en-US" sz="1300" dirty="0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46775814-BDCC-46EC-E39A-1B531D6A87FB}"/>
                </a:ext>
              </a:extLst>
            </p:cNvPr>
            <p:cNvSpPr/>
            <p:nvPr/>
          </p:nvSpPr>
          <p:spPr>
            <a:xfrm>
              <a:off x="4937760" y="210312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Scene-dependent kernel selection for variable lighting.</a:t>
              </a:r>
              <a:endParaRPr lang="en-US" sz="1150" dirty="0"/>
            </a:p>
          </p:txBody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DE47FBA5-BF9B-7AF0-875B-507C8C14DD06}"/>
                </a:ext>
              </a:extLst>
            </p:cNvPr>
            <p:cNvSpPr/>
            <p:nvPr/>
          </p:nvSpPr>
          <p:spPr>
            <a:xfrm>
              <a:off x="4754880" y="2724912"/>
              <a:ext cx="91440" cy="868680"/>
            </a:xfrm>
            <a:prstGeom prst="rect">
              <a:avLst/>
            </a:prstGeom>
            <a:noFill/>
            <a:ln/>
          </p:spPr>
        </p:sp>
        <p:sp>
          <p:nvSpPr>
            <p:cNvPr id="31" name="Text 22">
              <a:extLst>
                <a:ext uri="{FF2B5EF4-FFF2-40B4-BE49-F238E27FC236}">
                  <a16:creationId xmlns:a16="http://schemas.microsoft.com/office/drawing/2014/main" id="{A99F2969-756F-761D-2A32-6429CC40EE79}"/>
                </a:ext>
              </a:extLst>
            </p:cNvPr>
            <p:cNvSpPr/>
            <p:nvPr/>
          </p:nvSpPr>
          <p:spPr>
            <a:xfrm>
              <a:off x="4937760" y="2770632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 Acceleration</a:t>
              </a:r>
              <a:endParaRPr lang="en-US" sz="1300" dirty="0"/>
            </a:p>
          </p:txBody>
        </p:sp>
        <p:sp>
          <p:nvSpPr>
            <p:cNvPr id="32" name="Text 23">
              <a:extLst>
                <a:ext uri="{FF2B5EF4-FFF2-40B4-BE49-F238E27FC236}">
                  <a16:creationId xmlns:a16="http://schemas.microsoft.com/office/drawing/2014/main" id="{DD6CCD2A-8853-2959-8DAD-5C5EB641906B}"/>
                </a:ext>
              </a:extLst>
            </p:cNvPr>
            <p:cNvSpPr/>
            <p:nvPr/>
          </p:nvSpPr>
          <p:spPr>
            <a:xfrm>
              <a:off x="4937760" y="310896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CUDA-based Toeplitz &amp; K-Means for sub-100ms latency.</a:t>
              </a:r>
              <a:endParaRPr lang="en-US" sz="1150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A63BD5D6-08AD-1EB8-E524-B16C318D3E6F}"/>
                </a:ext>
              </a:extLst>
            </p:cNvPr>
            <p:cNvSpPr/>
            <p:nvPr/>
          </p:nvSpPr>
          <p:spPr>
            <a:xfrm>
              <a:off x="4754880" y="3730752"/>
              <a:ext cx="91440" cy="868680"/>
            </a:xfrm>
            <a:prstGeom prst="rect">
              <a:avLst/>
            </a:prstGeom>
            <a:noFill/>
            <a:ln/>
          </p:spPr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D981656A-E0BC-C13C-0B4B-A8A4C25F3B75}"/>
                </a:ext>
              </a:extLst>
            </p:cNvPr>
            <p:cNvSpPr/>
            <p:nvPr/>
          </p:nvSpPr>
          <p:spPr>
            <a:xfrm>
              <a:off x="4937760" y="3776472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Multi-Object &amp; Neural</a:t>
              </a:r>
              <a:endParaRPr lang="en-US" sz="1300" dirty="0"/>
            </a:p>
          </p:txBody>
        </p:sp>
        <p:sp>
          <p:nvSpPr>
            <p:cNvPr id="36" name="Text 27">
              <a:extLst>
                <a:ext uri="{FF2B5EF4-FFF2-40B4-BE49-F238E27FC236}">
                  <a16:creationId xmlns:a16="http://schemas.microsoft.com/office/drawing/2014/main" id="{9E0083F0-5E69-1253-CB39-937D8D73CAA8}"/>
                </a:ext>
              </a:extLst>
            </p:cNvPr>
            <p:cNvSpPr/>
            <p:nvPr/>
          </p:nvSpPr>
          <p:spPr>
            <a:xfrm>
              <a:off x="4937760" y="4114800"/>
              <a:ext cx="3840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Support multiple objects; lightweight neural stylization.</a:t>
              </a:r>
              <a:endParaRPr lang="en-US" sz="1150" dirty="0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0A8A1EDD-B4E3-8E50-E765-E0F83774AF13}"/>
              </a:ext>
            </a:extLst>
          </p:cNvPr>
          <p:cNvSpPr/>
          <p:nvPr/>
        </p:nvSpPr>
        <p:spPr>
          <a:xfrm>
            <a:off x="4504073" y="1122716"/>
            <a:ext cx="91440" cy="37555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56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64008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801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2286000" y="2606040"/>
            <a:ext cx="4572000" cy="4572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640580"/>
            <a:ext cx="2011680" cy="411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1CB918-2121-5BDF-F1E9-6AC028381C84}"/>
              </a:ext>
            </a:extLst>
          </p:cNvPr>
          <p:cNvSpPr txBox="1"/>
          <p:nvPr/>
        </p:nvSpPr>
        <p:spPr>
          <a:xfrm>
            <a:off x="2515443" y="3409099"/>
            <a:ext cx="4113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Mohan Surendra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|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Chandana Koduru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|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Tejaswi</a:t>
            </a:r>
            <a:endParaRPr lang="en-IN" sz="1600" i="1" dirty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555</Words>
  <Application>Microsoft Office PowerPoint</Application>
  <PresentationFormat>On-screen Show (16:9)</PresentationFormat>
  <Paragraphs>112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Accelerated GP Regression – Kronecker</dc:title>
  <dc:subject>PptxGenJS Presentation</dc:subject>
  <dc:creator>PptxGenJS</dc:creator>
  <cp:lastModifiedBy>sumesh R</cp:lastModifiedBy>
  <cp:revision>3</cp:revision>
  <dcterms:created xsi:type="dcterms:W3CDTF">2026-03-15T05:37:07Z</dcterms:created>
  <dcterms:modified xsi:type="dcterms:W3CDTF">2026-03-23T18:03:15Z</dcterms:modified>
</cp:coreProperties>
</file>